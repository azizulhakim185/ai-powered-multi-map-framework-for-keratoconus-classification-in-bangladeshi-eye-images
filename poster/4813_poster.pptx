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2918400" cy="4389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A"/>
    <a:srgbClr val="FFFFCC"/>
    <a:srgbClr val="C6F4F6"/>
    <a:srgbClr val="F0FCFE"/>
    <a:srgbClr val="660066"/>
    <a:srgbClr val="D9CDB7"/>
    <a:srgbClr val="FF3300"/>
    <a:srgbClr val="CFF8FD"/>
    <a:srgbClr val="D1E7EB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94660"/>
  </p:normalViewPr>
  <p:slideViewPr>
    <p:cSldViewPr snapToGrid="0">
      <p:cViewPr>
        <p:scale>
          <a:sx n="50" d="100"/>
          <a:sy n="50" d="100"/>
        </p:scale>
        <p:origin x="-1522" y="-104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7183123"/>
            <a:ext cx="27980640" cy="1528064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3053043"/>
            <a:ext cx="24688800" cy="10596877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449DB-EFB6-420D-904E-DE4ECE20BDB4}" type="datetimeFigureOut">
              <a:rPr lang="en-US" smtClean="0"/>
              <a:t>17-Jun-26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27C7-A227-4D0E-9C63-34BB1C17C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17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449DB-EFB6-420D-904E-DE4ECE20BDB4}" type="datetimeFigureOut">
              <a:rPr lang="en-US" smtClean="0"/>
              <a:t>17-Jun-26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27C7-A227-4D0E-9C63-34BB1C17C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465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10942333"/>
            <a:ext cx="28392120" cy="18257517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9372573"/>
            <a:ext cx="28392120" cy="9601197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82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449DB-EFB6-420D-904E-DE4ECE20BDB4}" type="datetimeFigureOut">
              <a:rPr lang="en-US" smtClean="0"/>
              <a:t>17-Jun-26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27C7-A227-4D0E-9C63-34BB1C17C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48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449DB-EFB6-420D-904E-DE4ECE20BDB4}" type="datetimeFigureOut">
              <a:rPr lang="en-US" smtClean="0"/>
              <a:t>17-Jun-26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27C7-A227-4D0E-9C63-34BB1C17C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125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336810"/>
            <a:ext cx="28392120" cy="84836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10759443"/>
            <a:ext cx="13926024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6032480"/>
            <a:ext cx="13926024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10759443"/>
            <a:ext cx="13994608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6032480"/>
            <a:ext cx="13994608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449DB-EFB6-420D-904E-DE4ECE20BDB4}" type="datetimeFigureOut">
              <a:rPr lang="en-US" smtClean="0"/>
              <a:t>17-Jun-26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27C7-A227-4D0E-9C63-34BB1C17C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423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449DB-EFB6-420D-904E-DE4ECE20BDB4}" type="datetimeFigureOut">
              <a:rPr lang="en-US" smtClean="0"/>
              <a:t>17-Jun-26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27C7-A227-4D0E-9C63-34BB1C17C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624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449DB-EFB6-420D-904E-DE4ECE20BDB4}" type="datetimeFigureOut">
              <a:rPr lang="en-US" smtClean="0"/>
              <a:t>17-Jun-26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27C7-A227-4D0E-9C63-34BB1C17C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321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6319530"/>
            <a:ext cx="16664940" cy="311912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449DB-EFB6-420D-904E-DE4ECE20BDB4}" type="datetimeFigureOut">
              <a:rPr lang="en-US" smtClean="0"/>
              <a:t>17-Jun-26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27C7-A227-4D0E-9C63-34BB1C17C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989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6319530"/>
            <a:ext cx="16664940" cy="3119120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449DB-EFB6-420D-904E-DE4ECE20BDB4}" type="datetimeFigureOut">
              <a:rPr lang="en-US" smtClean="0"/>
              <a:t>17-Jun-26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27C7-A227-4D0E-9C63-34BB1C17C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821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449DB-EFB6-420D-904E-DE4ECE20BDB4}" type="datetimeFigureOut">
              <a:rPr lang="en-US" smtClean="0"/>
              <a:t>17-Jun-26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27C7-A227-4D0E-9C63-34BB1C17C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787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2336800"/>
            <a:ext cx="7098030" cy="3719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2336800"/>
            <a:ext cx="20882610" cy="3719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449DB-EFB6-420D-904E-DE4ECE20BDB4}" type="datetimeFigureOut">
              <a:rPr lang="en-US" smtClean="0"/>
              <a:t>17-Jun-26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27C7-A227-4D0E-9C63-34BB1C17C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056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1449DB-EFB6-420D-904E-DE4ECE20BDB4}" type="datetimeFigureOut">
              <a:rPr lang="en-US" smtClean="0"/>
              <a:t>17-Jun-26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A27C7-A227-4D0E-9C63-34BB1C17C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378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D99EC7E-7DA8-26FD-7B24-0F047E081BDD}"/>
              </a:ext>
            </a:extLst>
          </p:cNvPr>
          <p:cNvSpPr/>
          <p:nvPr/>
        </p:nvSpPr>
        <p:spPr>
          <a:xfrm>
            <a:off x="0" y="0"/>
            <a:ext cx="32918400" cy="479503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9C6622-DA18-C15F-B4EE-CD6CFCCB99E3}"/>
              </a:ext>
            </a:extLst>
          </p:cNvPr>
          <p:cNvSpPr txBox="1"/>
          <p:nvPr/>
        </p:nvSpPr>
        <p:spPr>
          <a:xfrm>
            <a:off x="3291840" y="587829"/>
            <a:ext cx="289560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AI-Powered Multi-Map Framework for Keratoconus Classification in Bangladeshi Eye Images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E7A3B6-10C6-B456-D77E-77B8FB718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87829"/>
            <a:ext cx="3023416" cy="35507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0B0BB93-54F4-364C-8124-61E1011A95CC}"/>
              </a:ext>
            </a:extLst>
          </p:cNvPr>
          <p:cNvSpPr txBox="1"/>
          <p:nvPr/>
        </p:nvSpPr>
        <p:spPr>
          <a:xfrm>
            <a:off x="7284720" y="2906877"/>
            <a:ext cx="209702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rgbClr val="EBE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 B — smart cities, vision, security, and applied AI systems</a:t>
            </a:r>
          </a:p>
          <a:p>
            <a:pPr algn="ctr"/>
            <a:r>
              <a:rPr lang="en-US" sz="5400" dirty="0">
                <a:solidFill>
                  <a:srgbClr val="EBE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Poster # 06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3D33C0F-CD19-46B9-1649-18373E43B333}"/>
              </a:ext>
            </a:extLst>
          </p:cNvPr>
          <p:cNvGrpSpPr/>
          <p:nvPr/>
        </p:nvGrpSpPr>
        <p:grpSpPr>
          <a:xfrm>
            <a:off x="457200" y="5064221"/>
            <a:ext cx="8944708" cy="7579952"/>
            <a:chOff x="457200" y="5064221"/>
            <a:chExt cx="8944708" cy="9050364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4DE7BF8-34A0-342C-EF97-A0DB275C279D}"/>
                </a:ext>
              </a:extLst>
            </p:cNvPr>
            <p:cNvSpPr/>
            <p:nvPr/>
          </p:nvSpPr>
          <p:spPr>
            <a:xfrm>
              <a:off x="457200" y="5064221"/>
              <a:ext cx="8944708" cy="9050364"/>
            </a:xfrm>
            <a:prstGeom prst="roundRect">
              <a:avLst>
                <a:gd name="adj" fmla="val 2099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37160" rtlCol="0" anchor="b"/>
            <a:lstStyle/>
            <a:p>
              <a:pPr algn="ctr">
                <a:lnSpc>
                  <a:spcPts val="3500"/>
                </a:lnSpc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Keratoconus (KC) is a progressive corneal disease that can lead to severe visual damage if not detected earlier. Most existing artificial intelligence (Al) systems rely on a single Pentacam corneal map and are rarely validated across different ethnic people; This research proposes a multi-map AI framework that utilizes all seven Pentacam tomographic maps and evaluates performance using both Brazilian and Bangladeshi datasets. Features were extracted using pre-trained CNN backbones and classified using an RBF-SVM classifier, The proposed approach demonstrates superior performance compared with individual map-based methods while maintaining robustness across different populations. The framework shows promise as an affordable and scalable screening tool for early keratoconus detection, particularly in resource-constrained regions.</a:t>
              </a:r>
            </a:p>
          </p:txBody>
        </p:sp>
        <p:sp>
          <p:nvSpPr>
            <p:cNvPr id="20" name="Rectangle: Top Corners Rounded 19">
              <a:extLst>
                <a:ext uri="{FF2B5EF4-FFF2-40B4-BE49-F238E27FC236}">
                  <a16:creationId xmlns:a16="http://schemas.microsoft.com/office/drawing/2014/main" id="{513E9CBF-10AF-A01B-9F23-657D8CF10AF8}"/>
                </a:ext>
              </a:extLst>
            </p:cNvPr>
            <p:cNvSpPr/>
            <p:nvPr/>
          </p:nvSpPr>
          <p:spPr>
            <a:xfrm>
              <a:off x="457200" y="5064221"/>
              <a:ext cx="8944708" cy="684159"/>
            </a:xfrm>
            <a:prstGeom prst="round2Same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ABSTRACT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F480FD0-739C-0FA4-E233-1C7FE2AEF421}"/>
              </a:ext>
            </a:extLst>
          </p:cNvPr>
          <p:cNvGrpSpPr/>
          <p:nvPr/>
        </p:nvGrpSpPr>
        <p:grpSpPr>
          <a:xfrm>
            <a:off x="9631679" y="5064222"/>
            <a:ext cx="22829521" cy="7579952"/>
            <a:chOff x="9631679" y="5064221"/>
            <a:chExt cx="22829521" cy="9050364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4D47B6B8-50A9-2CB3-FE44-F46CF49DFEAA}"/>
                </a:ext>
              </a:extLst>
            </p:cNvPr>
            <p:cNvSpPr/>
            <p:nvPr/>
          </p:nvSpPr>
          <p:spPr>
            <a:xfrm>
              <a:off x="9631679" y="5064221"/>
              <a:ext cx="22829521" cy="9050364"/>
            </a:xfrm>
            <a:prstGeom prst="roundRect">
              <a:avLst>
                <a:gd name="adj" fmla="val 2099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endParaRPr lang="en-US" sz="2400" dirty="0">
                <a:solidFill>
                  <a:schemeClr val="tx1"/>
                </a:solidFill>
                <a:latin typeface="Rockwell" panose="02060603020205020403" pitchFamily="18" charset="0"/>
              </a:endParaRPr>
            </a:p>
          </p:txBody>
        </p:sp>
        <p:sp>
          <p:nvSpPr>
            <p:cNvPr id="25" name="Rectangle: Top Corners Rounded 24">
              <a:extLst>
                <a:ext uri="{FF2B5EF4-FFF2-40B4-BE49-F238E27FC236}">
                  <a16:creationId xmlns:a16="http://schemas.microsoft.com/office/drawing/2014/main" id="{88E86E65-35B0-4A0D-198E-A74292ABCD3D}"/>
                </a:ext>
              </a:extLst>
            </p:cNvPr>
            <p:cNvSpPr/>
            <p:nvPr/>
          </p:nvSpPr>
          <p:spPr>
            <a:xfrm>
              <a:off x="9631680" y="5064221"/>
              <a:ext cx="22829520" cy="684159"/>
            </a:xfrm>
            <a:prstGeom prst="round2Same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57335BCB-AD7A-6452-2809-E9D0A3FB026B}"/>
              </a:ext>
            </a:extLst>
          </p:cNvPr>
          <p:cNvSpPr/>
          <p:nvPr/>
        </p:nvSpPr>
        <p:spPr>
          <a:xfrm>
            <a:off x="6446520" y="2906877"/>
            <a:ext cx="2084832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50000">
                <a:schemeClr val="bg2">
                  <a:lumMod val="75000"/>
                </a:schemeClr>
              </a:gs>
              <a:gs pos="100000">
                <a:schemeClr val="bg1">
                  <a:lumMod val="95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A2FB60-9E5D-8360-F024-39B110317CA1}"/>
              </a:ext>
            </a:extLst>
          </p:cNvPr>
          <p:cNvSpPr txBox="1"/>
          <p:nvPr/>
        </p:nvSpPr>
        <p:spPr>
          <a:xfrm>
            <a:off x="10250847" y="5855933"/>
            <a:ext cx="8023274" cy="4203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3200" b="1" dirty="0">
                <a:solidFill>
                  <a:srgbClr val="00B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Keratoconus Detection Matters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ckwell" panose="02060603020205020403" pitchFamily="18" charset="0"/>
              </a:rPr>
              <a:t>Keratoconus causes progressive thinning and protrusion of the cornea.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ckwell" panose="02060603020205020403" pitchFamily="18" charset="0"/>
              </a:rPr>
              <a:t>Early diagnosis enables treatments such as corneal cross-linking to prevent vision loss.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ckwell" panose="02060603020205020403" pitchFamily="18" charset="0"/>
              </a:rPr>
              <a:t>Diagnosis currently requires expert interpretation of Pentacam corneal maps.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ckwell" panose="02060603020205020403" pitchFamily="18" charset="0"/>
              </a:rPr>
              <a:t>Rural and low-resource healthcare settings often lack specialists.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EA026F-F909-AB3D-6BE9-1866A9195F47}"/>
              </a:ext>
            </a:extLst>
          </p:cNvPr>
          <p:cNvSpPr txBox="1"/>
          <p:nvPr/>
        </p:nvSpPr>
        <p:spPr>
          <a:xfrm>
            <a:off x="11323694" y="10121310"/>
            <a:ext cx="2026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B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F64541E-27E4-83CA-D4F9-67A08A6550F3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13350614" y="10413698"/>
            <a:ext cx="18845784" cy="0"/>
          </a:xfrm>
          <a:prstGeom prst="line">
            <a:avLst/>
          </a:prstGeom>
          <a:ln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27000">
                  <a:schemeClr val="tx1">
                    <a:lumMod val="75000"/>
                    <a:lumOff val="25000"/>
                  </a:schemeClr>
                </a:gs>
                <a:gs pos="0">
                  <a:schemeClr val="bg1">
                    <a:alpha val="0"/>
                    <a:lumMod val="10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DF019EF-4651-CDD2-DBA2-E3F7257A4144}"/>
              </a:ext>
            </a:extLst>
          </p:cNvPr>
          <p:cNvCxnSpPr>
            <a:cxnSpLocks/>
            <a:stCxn id="35" idx="1"/>
          </p:cNvCxnSpPr>
          <p:nvPr/>
        </p:nvCxnSpPr>
        <p:spPr>
          <a:xfrm flipH="1" flipV="1">
            <a:off x="9788264" y="10411103"/>
            <a:ext cx="1535430" cy="2595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54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9AA3192-1D8F-7B8A-D979-5E196A6BB39C}"/>
              </a:ext>
            </a:extLst>
          </p:cNvPr>
          <p:cNvSpPr txBox="1"/>
          <p:nvPr/>
        </p:nvSpPr>
        <p:spPr>
          <a:xfrm>
            <a:off x="12589199" y="10658104"/>
            <a:ext cx="10683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ockwell" panose="02060603020205020403" pitchFamily="18" charset="0"/>
              </a:rPr>
              <a:t>Develop a robust deep-learning-based keratoconus screening system that: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0325FFF-4BD4-DBFC-5F96-58864EA98642}"/>
              </a:ext>
            </a:extLst>
          </p:cNvPr>
          <p:cNvGrpSpPr/>
          <p:nvPr/>
        </p:nvGrpSpPr>
        <p:grpSpPr>
          <a:xfrm>
            <a:off x="12760085" y="11282376"/>
            <a:ext cx="4410042" cy="1186507"/>
            <a:chOff x="11458849" y="12644173"/>
            <a:chExt cx="4410042" cy="1186507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FDFC1C03-38F4-B7A1-66AF-1D1649D8C0B4}"/>
                </a:ext>
              </a:extLst>
            </p:cNvPr>
            <p:cNvSpPr/>
            <p:nvPr/>
          </p:nvSpPr>
          <p:spPr>
            <a:xfrm>
              <a:off x="11458850" y="12644173"/>
              <a:ext cx="4410041" cy="1186507"/>
            </a:xfrm>
            <a:custGeom>
              <a:avLst/>
              <a:gdLst>
                <a:gd name="csX0" fmla="*/ 0 w 3889094"/>
                <a:gd name="csY0" fmla="*/ 197755 h 1186507"/>
                <a:gd name="csX1" fmla="*/ 197755 w 3889094"/>
                <a:gd name="csY1" fmla="*/ 0 h 1186507"/>
                <a:gd name="csX2" fmla="*/ 3691339 w 3889094"/>
                <a:gd name="csY2" fmla="*/ 0 h 1186507"/>
                <a:gd name="csX3" fmla="*/ 3889094 w 3889094"/>
                <a:gd name="csY3" fmla="*/ 197755 h 1186507"/>
                <a:gd name="csX4" fmla="*/ 3889094 w 3889094"/>
                <a:gd name="csY4" fmla="*/ 988752 h 1186507"/>
                <a:gd name="csX5" fmla="*/ 3691339 w 3889094"/>
                <a:gd name="csY5" fmla="*/ 1186507 h 1186507"/>
                <a:gd name="csX6" fmla="*/ 197755 w 3889094"/>
                <a:gd name="csY6" fmla="*/ 1186507 h 1186507"/>
                <a:gd name="csX7" fmla="*/ 0 w 3889094"/>
                <a:gd name="csY7" fmla="*/ 988752 h 1186507"/>
                <a:gd name="csX8" fmla="*/ 0 w 3889094"/>
                <a:gd name="csY8" fmla="*/ 197755 h 1186507"/>
                <a:gd name="csX0" fmla="*/ 0 w 3889094"/>
                <a:gd name="csY0" fmla="*/ 988752 h 1186507"/>
                <a:gd name="csX1" fmla="*/ 197755 w 3889094"/>
                <a:gd name="csY1" fmla="*/ 0 h 1186507"/>
                <a:gd name="csX2" fmla="*/ 3691339 w 3889094"/>
                <a:gd name="csY2" fmla="*/ 0 h 1186507"/>
                <a:gd name="csX3" fmla="*/ 3889094 w 3889094"/>
                <a:gd name="csY3" fmla="*/ 197755 h 1186507"/>
                <a:gd name="csX4" fmla="*/ 3889094 w 3889094"/>
                <a:gd name="csY4" fmla="*/ 988752 h 1186507"/>
                <a:gd name="csX5" fmla="*/ 3691339 w 3889094"/>
                <a:gd name="csY5" fmla="*/ 1186507 h 1186507"/>
                <a:gd name="csX6" fmla="*/ 197755 w 3889094"/>
                <a:gd name="csY6" fmla="*/ 1186507 h 1186507"/>
                <a:gd name="csX7" fmla="*/ 0 w 3889094"/>
                <a:gd name="csY7" fmla="*/ 988752 h 1186507"/>
                <a:gd name="csX0" fmla="*/ 0 w 3889094"/>
                <a:gd name="csY0" fmla="*/ 988752 h 1186507"/>
                <a:gd name="csX1" fmla="*/ 197755 w 3889094"/>
                <a:gd name="csY1" fmla="*/ 0 h 1186507"/>
                <a:gd name="csX2" fmla="*/ 3691339 w 3889094"/>
                <a:gd name="csY2" fmla="*/ 0 h 1186507"/>
                <a:gd name="csX3" fmla="*/ 3889094 w 3889094"/>
                <a:gd name="csY3" fmla="*/ 197755 h 1186507"/>
                <a:gd name="csX4" fmla="*/ 3889094 w 3889094"/>
                <a:gd name="csY4" fmla="*/ 988752 h 1186507"/>
                <a:gd name="csX5" fmla="*/ 3691339 w 3889094"/>
                <a:gd name="csY5" fmla="*/ 1186507 h 1186507"/>
                <a:gd name="csX6" fmla="*/ 197755 w 3889094"/>
                <a:gd name="csY6" fmla="*/ 1186507 h 1186507"/>
                <a:gd name="csX7" fmla="*/ 91440 w 3889094"/>
                <a:gd name="csY7" fmla="*/ 1080192 h 1186507"/>
                <a:gd name="csX0" fmla="*/ 0 w 3889094"/>
                <a:gd name="csY0" fmla="*/ 988752 h 1186507"/>
                <a:gd name="csX1" fmla="*/ 197755 w 3889094"/>
                <a:gd name="csY1" fmla="*/ 0 h 1186507"/>
                <a:gd name="csX2" fmla="*/ 3691339 w 3889094"/>
                <a:gd name="csY2" fmla="*/ 0 h 1186507"/>
                <a:gd name="csX3" fmla="*/ 3889094 w 3889094"/>
                <a:gd name="csY3" fmla="*/ 197755 h 1186507"/>
                <a:gd name="csX4" fmla="*/ 3889094 w 3889094"/>
                <a:gd name="csY4" fmla="*/ 988752 h 1186507"/>
                <a:gd name="csX5" fmla="*/ 3691339 w 3889094"/>
                <a:gd name="csY5" fmla="*/ 1186507 h 1186507"/>
                <a:gd name="csX6" fmla="*/ 197755 w 3889094"/>
                <a:gd name="csY6" fmla="*/ 1186507 h 1186507"/>
                <a:gd name="csX0" fmla="*/ 0 w 3691339"/>
                <a:gd name="csY0" fmla="*/ 0 h 1186507"/>
                <a:gd name="csX1" fmla="*/ 3493584 w 3691339"/>
                <a:gd name="csY1" fmla="*/ 0 h 1186507"/>
                <a:gd name="csX2" fmla="*/ 3691339 w 3691339"/>
                <a:gd name="csY2" fmla="*/ 197755 h 1186507"/>
                <a:gd name="csX3" fmla="*/ 3691339 w 3691339"/>
                <a:gd name="csY3" fmla="*/ 988752 h 1186507"/>
                <a:gd name="csX4" fmla="*/ 3493584 w 3691339"/>
                <a:gd name="csY4" fmla="*/ 1186507 h 1186507"/>
                <a:gd name="csX5" fmla="*/ 0 w 3691339"/>
                <a:gd name="csY5" fmla="*/ 1186507 h 1186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691339" h="1186507">
                  <a:moveTo>
                    <a:pt x="0" y="0"/>
                  </a:moveTo>
                  <a:lnTo>
                    <a:pt x="3493584" y="0"/>
                  </a:lnTo>
                  <a:cubicBezTo>
                    <a:pt x="3602801" y="0"/>
                    <a:pt x="3691339" y="88538"/>
                    <a:pt x="3691339" y="197755"/>
                  </a:cubicBezTo>
                  <a:lnTo>
                    <a:pt x="3691339" y="988752"/>
                  </a:lnTo>
                  <a:cubicBezTo>
                    <a:pt x="3691339" y="1097969"/>
                    <a:pt x="3602801" y="1186507"/>
                    <a:pt x="3493584" y="1186507"/>
                  </a:cubicBezTo>
                  <a:lnTo>
                    <a:pt x="0" y="1186507"/>
                  </a:lnTo>
                </a:path>
              </a:pathLst>
            </a:custGeom>
            <a:noFill/>
            <a:ln w="19050">
              <a:solidFill>
                <a:srgbClr val="00B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4008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Utilizes all seven Pentacam maps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9632ABC-341E-698A-7919-9D745095895C}"/>
                </a:ext>
              </a:extLst>
            </p:cNvPr>
            <p:cNvSpPr/>
            <p:nvPr/>
          </p:nvSpPr>
          <p:spPr>
            <a:xfrm>
              <a:off x="11458849" y="12812307"/>
              <a:ext cx="850238" cy="850238"/>
            </a:xfrm>
            <a:prstGeom prst="ellipse">
              <a:avLst/>
            </a:prstGeom>
            <a:solidFill>
              <a:srgbClr val="00B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754C078-8312-F072-0614-443B8E98236D}"/>
              </a:ext>
            </a:extLst>
          </p:cNvPr>
          <p:cNvGrpSpPr/>
          <p:nvPr/>
        </p:nvGrpSpPr>
        <p:grpSpPr>
          <a:xfrm>
            <a:off x="19073632" y="11282376"/>
            <a:ext cx="4616457" cy="1186507"/>
            <a:chOff x="16669386" y="12644173"/>
            <a:chExt cx="4616457" cy="1186507"/>
          </a:xfrm>
        </p:grpSpPr>
        <p:sp>
          <p:nvSpPr>
            <p:cNvPr id="54" name="Rectangle: Rounded Corners 51">
              <a:extLst>
                <a:ext uri="{FF2B5EF4-FFF2-40B4-BE49-F238E27FC236}">
                  <a16:creationId xmlns:a16="http://schemas.microsoft.com/office/drawing/2014/main" id="{179032D5-9DEB-AC69-A7AC-81B7876A43E1}"/>
                </a:ext>
              </a:extLst>
            </p:cNvPr>
            <p:cNvSpPr/>
            <p:nvPr/>
          </p:nvSpPr>
          <p:spPr>
            <a:xfrm>
              <a:off x="16669387" y="12644173"/>
              <a:ext cx="4616456" cy="1186507"/>
            </a:xfrm>
            <a:custGeom>
              <a:avLst/>
              <a:gdLst>
                <a:gd name="csX0" fmla="*/ 0 w 3889094"/>
                <a:gd name="csY0" fmla="*/ 197755 h 1186507"/>
                <a:gd name="csX1" fmla="*/ 197755 w 3889094"/>
                <a:gd name="csY1" fmla="*/ 0 h 1186507"/>
                <a:gd name="csX2" fmla="*/ 3691339 w 3889094"/>
                <a:gd name="csY2" fmla="*/ 0 h 1186507"/>
                <a:gd name="csX3" fmla="*/ 3889094 w 3889094"/>
                <a:gd name="csY3" fmla="*/ 197755 h 1186507"/>
                <a:gd name="csX4" fmla="*/ 3889094 w 3889094"/>
                <a:gd name="csY4" fmla="*/ 988752 h 1186507"/>
                <a:gd name="csX5" fmla="*/ 3691339 w 3889094"/>
                <a:gd name="csY5" fmla="*/ 1186507 h 1186507"/>
                <a:gd name="csX6" fmla="*/ 197755 w 3889094"/>
                <a:gd name="csY6" fmla="*/ 1186507 h 1186507"/>
                <a:gd name="csX7" fmla="*/ 0 w 3889094"/>
                <a:gd name="csY7" fmla="*/ 988752 h 1186507"/>
                <a:gd name="csX8" fmla="*/ 0 w 3889094"/>
                <a:gd name="csY8" fmla="*/ 197755 h 1186507"/>
                <a:gd name="csX0" fmla="*/ 0 w 3889094"/>
                <a:gd name="csY0" fmla="*/ 988752 h 1186507"/>
                <a:gd name="csX1" fmla="*/ 197755 w 3889094"/>
                <a:gd name="csY1" fmla="*/ 0 h 1186507"/>
                <a:gd name="csX2" fmla="*/ 3691339 w 3889094"/>
                <a:gd name="csY2" fmla="*/ 0 h 1186507"/>
                <a:gd name="csX3" fmla="*/ 3889094 w 3889094"/>
                <a:gd name="csY3" fmla="*/ 197755 h 1186507"/>
                <a:gd name="csX4" fmla="*/ 3889094 w 3889094"/>
                <a:gd name="csY4" fmla="*/ 988752 h 1186507"/>
                <a:gd name="csX5" fmla="*/ 3691339 w 3889094"/>
                <a:gd name="csY5" fmla="*/ 1186507 h 1186507"/>
                <a:gd name="csX6" fmla="*/ 197755 w 3889094"/>
                <a:gd name="csY6" fmla="*/ 1186507 h 1186507"/>
                <a:gd name="csX7" fmla="*/ 0 w 3889094"/>
                <a:gd name="csY7" fmla="*/ 988752 h 1186507"/>
                <a:gd name="csX0" fmla="*/ 0 w 3889094"/>
                <a:gd name="csY0" fmla="*/ 988752 h 1186507"/>
                <a:gd name="csX1" fmla="*/ 197755 w 3889094"/>
                <a:gd name="csY1" fmla="*/ 0 h 1186507"/>
                <a:gd name="csX2" fmla="*/ 3691339 w 3889094"/>
                <a:gd name="csY2" fmla="*/ 0 h 1186507"/>
                <a:gd name="csX3" fmla="*/ 3889094 w 3889094"/>
                <a:gd name="csY3" fmla="*/ 197755 h 1186507"/>
                <a:gd name="csX4" fmla="*/ 3889094 w 3889094"/>
                <a:gd name="csY4" fmla="*/ 988752 h 1186507"/>
                <a:gd name="csX5" fmla="*/ 3691339 w 3889094"/>
                <a:gd name="csY5" fmla="*/ 1186507 h 1186507"/>
                <a:gd name="csX6" fmla="*/ 197755 w 3889094"/>
                <a:gd name="csY6" fmla="*/ 1186507 h 1186507"/>
                <a:gd name="csX7" fmla="*/ 91440 w 3889094"/>
                <a:gd name="csY7" fmla="*/ 1080192 h 1186507"/>
                <a:gd name="csX0" fmla="*/ 0 w 3889094"/>
                <a:gd name="csY0" fmla="*/ 988752 h 1186507"/>
                <a:gd name="csX1" fmla="*/ 197755 w 3889094"/>
                <a:gd name="csY1" fmla="*/ 0 h 1186507"/>
                <a:gd name="csX2" fmla="*/ 3691339 w 3889094"/>
                <a:gd name="csY2" fmla="*/ 0 h 1186507"/>
                <a:gd name="csX3" fmla="*/ 3889094 w 3889094"/>
                <a:gd name="csY3" fmla="*/ 197755 h 1186507"/>
                <a:gd name="csX4" fmla="*/ 3889094 w 3889094"/>
                <a:gd name="csY4" fmla="*/ 988752 h 1186507"/>
                <a:gd name="csX5" fmla="*/ 3691339 w 3889094"/>
                <a:gd name="csY5" fmla="*/ 1186507 h 1186507"/>
                <a:gd name="csX6" fmla="*/ 197755 w 3889094"/>
                <a:gd name="csY6" fmla="*/ 1186507 h 1186507"/>
                <a:gd name="csX0" fmla="*/ 0 w 3691339"/>
                <a:gd name="csY0" fmla="*/ 0 h 1186507"/>
                <a:gd name="csX1" fmla="*/ 3493584 w 3691339"/>
                <a:gd name="csY1" fmla="*/ 0 h 1186507"/>
                <a:gd name="csX2" fmla="*/ 3691339 w 3691339"/>
                <a:gd name="csY2" fmla="*/ 197755 h 1186507"/>
                <a:gd name="csX3" fmla="*/ 3691339 w 3691339"/>
                <a:gd name="csY3" fmla="*/ 988752 h 1186507"/>
                <a:gd name="csX4" fmla="*/ 3493584 w 3691339"/>
                <a:gd name="csY4" fmla="*/ 1186507 h 1186507"/>
                <a:gd name="csX5" fmla="*/ 0 w 3691339"/>
                <a:gd name="csY5" fmla="*/ 1186507 h 1186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691339" h="1186507">
                  <a:moveTo>
                    <a:pt x="0" y="0"/>
                  </a:moveTo>
                  <a:lnTo>
                    <a:pt x="3493584" y="0"/>
                  </a:lnTo>
                  <a:cubicBezTo>
                    <a:pt x="3602801" y="0"/>
                    <a:pt x="3691339" y="88538"/>
                    <a:pt x="3691339" y="197755"/>
                  </a:cubicBezTo>
                  <a:lnTo>
                    <a:pt x="3691339" y="988752"/>
                  </a:lnTo>
                  <a:cubicBezTo>
                    <a:pt x="3691339" y="1097969"/>
                    <a:pt x="3602801" y="1186507"/>
                    <a:pt x="3493584" y="1186507"/>
                  </a:cubicBezTo>
                  <a:lnTo>
                    <a:pt x="0" y="1186507"/>
                  </a:lnTo>
                </a:path>
              </a:pathLst>
            </a:custGeom>
            <a:noFill/>
            <a:ln w="19050">
              <a:solidFill>
                <a:srgbClr val="00B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4008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Generalizes across different populations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D16FE562-3244-492A-6AC7-3EB33008289B}"/>
                </a:ext>
              </a:extLst>
            </p:cNvPr>
            <p:cNvSpPr/>
            <p:nvPr/>
          </p:nvSpPr>
          <p:spPr>
            <a:xfrm>
              <a:off x="16669386" y="12812307"/>
              <a:ext cx="850238" cy="850238"/>
            </a:xfrm>
            <a:prstGeom prst="ellipse">
              <a:avLst/>
            </a:prstGeom>
            <a:solidFill>
              <a:srgbClr val="00B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868C537-022B-BF1E-A0F0-41A023385C14}"/>
              </a:ext>
            </a:extLst>
          </p:cNvPr>
          <p:cNvGrpSpPr/>
          <p:nvPr/>
        </p:nvGrpSpPr>
        <p:grpSpPr>
          <a:xfrm>
            <a:off x="25593595" y="11282376"/>
            <a:ext cx="5414917" cy="1186507"/>
            <a:chOff x="21879923" y="12644173"/>
            <a:chExt cx="5414917" cy="1186507"/>
          </a:xfrm>
        </p:grpSpPr>
        <p:sp>
          <p:nvSpPr>
            <p:cNvPr id="56" name="Rectangle: Rounded Corners 51">
              <a:extLst>
                <a:ext uri="{FF2B5EF4-FFF2-40B4-BE49-F238E27FC236}">
                  <a16:creationId xmlns:a16="http://schemas.microsoft.com/office/drawing/2014/main" id="{223F4A59-7BC1-D7A7-B939-E3328685BD56}"/>
                </a:ext>
              </a:extLst>
            </p:cNvPr>
            <p:cNvSpPr/>
            <p:nvPr/>
          </p:nvSpPr>
          <p:spPr>
            <a:xfrm>
              <a:off x="21879924" y="12644173"/>
              <a:ext cx="5414916" cy="1186507"/>
            </a:xfrm>
            <a:custGeom>
              <a:avLst/>
              <a:gdLst>
                <a:gd name="csX0" fmla="*/ 0 w 3889094"/>
                <a:gd name="csY0" fmla="*/ 197755 h 1186507"/>
                <a:gd name="csX1" fmla="*/ 197755 w 3889094"/>
                <a:gd name="csY1" fmla="*/ 0 h 1186507"/>
                <a:gd name="csX2" fmla="*/ 3691339 w 3889094"/>
                <a:gd name="csY2" fmla="*/ 0 h 1186507"/>
                <a:gd name="csX3" fmla="*/ 3889094 w 3889094"/>
                <a:gd name="csY3" fmla="*/ 197755 h 1186507"/>
                <a:gd name="csX4" fmla="*/ 3889094 w 3889094"/>
                <a:gd name="csY4" fmla="*/ 988752 h 1186507"/>
                <a:gd name="csX5" fmla="*/ 3691339 w 3889094"/>
                <a:gd name="csY5" fmla="*/ 1186507 h 1186507"/>
                <a:gd name="csX6" fmla="*/ 197755 w 3889094"/>
                <a:gd name="csY6" fmla="*/ 1186507 h 1186507"/>
                <a:gd name="csX7" fmla="*/ 0 w 3889094"/>
                <a:gd name="csY7" fmla="*/ 988752 h 1186507"/>
                <a:gd name="csX8" fmla="*/ 0 w 3889094"/>
                <a:gd name="csY8" fmla="*/ 197755 h 1186507"/>
                <a:gd name="csX0" fmla="*/ 0 w 3889094"/>
                <a:gd name="csY0" fmla="*/ 988752 h 1186507"/>
                <a:gd name="csX1" fmla="*/ 197755 w 3889094"/>
                <a:gd name="csY1" fmla="*/ 0 h 1186507"/>
                <a:gd name="csX2" fmla="*/ 3691339 w 3889094"/>
                <a:gd name="csY2" fmla="*/ 0 h 1186507"/>
                <a:gd name="csX3" fmla="*/ 3889094 w 3889094"/>
                <a:gd name="csY3" fmla="*/ 197755 h 1186507"/>
                <a:gd name="csX4" fmla="*/ 3889094 w 3889094"/>
                <a:gd name="csY4" fmla="*/ 988752 h 1186507"/>
                <a:gd name="csX5" fmla="*/ 3691339 w 3889094"/>
                <a:gd name="csY5" fmla="*/ 1186507 h 1186507"/>
                <a:gd name="csX6" fmla="*/ 197755 w 3889094"/>
                <a:gd name="csY6" fmla="*/ 1186507 h 1186507"/>
                <a:gd name="csX7" fmla="*/ 0 w 3889094"/>
                <a:gd name="csY7" fmla="*/ 988752 h 1186507"/>
                <a:gd name="csX0" fmla="*/ 0 w 3889094"/>
                <a:gd name="csY0" fmla="*/ 988752 h 1186507"/>
                <a:gd name="csX1" fmla="*/ 197755 w 3889094"/>
                <a:gd name="csY1" fmla="*/ 0 h 1186507"/>
                <a:gd name="csX2" fmla="*/ 3691339 w 3889094"/>
                <a:gd name="csY2" fmla="*/ 0 h 1186507"/>
                <a:gd name="csX3" fmla="*/ 3889094 w 3889094"/>
                <a:gd name="csY3" fmla="*/ 197755 h 1186507"/>
                <a:gd name="csX4" fmla="*/ 3889094 w 3889094"/>
                <a:gd name="csY4" fmla="*/ 988752 h 1186507"/>
                <a:gd name="csX5" fmla="*/ 3691339 w 3889094"/>
                <a:gd name="csY5" fmla="*/ 1186507 h 1186507"/>
                <a:gd name="csX6" fmla="*/ 197755 w 3889094"/>
                <a:gd name="csY6" fmla="*/ 1186507 h 1186507"/>
                <a:gd name="csX7" fmla="*/ 91440 w 3889094"/>
                <a:gd name="csY7" fmla="*/ 1080192 h 1186507"/>
                <a:gd name="csX0" fmla="*/ 0 w 3889094"/>
                <a:gd name="csY0" fmla="*/ 988752 h 1186507"/>
                <a:gd name="csX1" fmla="*/ 197755 w 3889094"/>
                <a:gd name="csY1" fmla="*/ 0 h 1186507"/>
                <a:gd name="csX2" fmla="*/ 3691339 w 3889094"/>
                <a:gd name="csY2" fmla="*/ 0 h 1186507"/>
                <a:gd name="csX3" fmla="*/ 3889094 w 3889094"/>
                <a:gd name="csY3" fmla="*/ 197755 h 1186507"/>
                <a:gd name="csX4" fmla="*/ 3889094 w 3889094"/>
                <a:gd name="csY4" fmla="*/ 988752 h 1186507"/>
                <a:gd name="csX5" fmla="*/ 3691339 w 3889094"/>
                <a:gd name="csY5" fmla="*/ 1186507 h 1186507"/>
                <a:gd name="csX6" fmla="*/ 197755 w 3889094"/>
                <a:gd name="csY6" fmla="*/ 1186507 h 1186507"/>
                <a:gd name="csX0" fmla="*/ 0 w 3691339"/>
                <a:gd name="csY0" fmla="*/ 0 h 1186507"/>
                <a:gd name="csX1" fmla="*/ 3493584 w 3691339"/>
                <a:gd name="csY1" fmla="*/ 0 h 1186507"/>
                <a:gd name="csX2" fmla="*/ 3691339 w 3691339"/>
                <a:gd name="csY2" fmla="*/ 197755 h 1186507"/>
                <a:gd name="csX3" fmla="*/ 3691339 w 3691339"/>
                <a:gd name="csY3" fmla="*/ 988752 h 1186507"/>
                <a:gd name="csX4" fmla="*/ 3493584 w 3691339"/>
                <a:gd name="csY4" fmla="*/ 1186507 h 1186507"/>
                <a:gd name="csX5" fmla="*/ 0 w 3691339"/>
                <a:gd name="csY5" fmla="*/ 1186507 h 1186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691339" h="1186507">
                  <a:moveTo>
                    <a:pt x="0" y="0"/>
                  </a:moveTo>
                  <a:lnTo>
                    <a:pt x="3493584" y="0"/>
                  </a:lnTo>
                  <a:cubicBezTo>
                    <a:pt x="3602801" y="0"/>
                    <a:pt x="3691339" y="88538"/>
                    <a:pt x="3691339" y="197755"/>
                  </a:cubicBezTo>
                  <a:lnTo>
                    <a:pt x="3691339" y="988752"/>
                  </a:lnTo>
                  <a:cubicBezTo>
                    <a:pt x="3691339" y="1097969"/>
                    <a:pt x="3602801" y="1186507"/>
                    <a:pt x="3493584" y="1186507"/>
                  </a:cubicBezTo>
                  <a:lnTo>
                    <a:pt x="0" y="1186507"/>
                  </a:lnTo>
                </a:path>
              </a:pathLst>
            </a:custGeom>
            <a:noFill/>
            <a:ln w="19050">
              <a:solidFill>
                <a:srgbClr val="00B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Improves detection of early-stage and suspect cases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896FAEEF-794D-3D49-D745-84F2EE94A9A9}"/>
                </a:ext>
              </a:extLst>
            </p:cNvPr>
            <p:cNvSpPr/>
            <p:nvPr/>
          </p:nvSpPr>
          <p:spPr>
            <a:xfrm>
              <a:off x="21879923" y="12812307"/>
              <a:ext cx="850238" cy="850238"/>
            </a:xfrm>
            <a:prstGeom prst="ellipse">
              <a:avLst/>
            </a:prstGeom>
            <a:solidFill>
              <a:srgbClr val="00B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pic>
        <p:nvPicPr>
          <p:cNvPr id="69" name="Picture 68">
            <a:extLst>
              <a:ext uri="{FF2B5EF4-FFF2-40B4-BE49-F238E27FC236}">
                <a16:creationId xmlns:a16="http://schemas.microsoft.com/office/drawing/2014/main" id="{DFC9448C-4A1C-6D07-4F24-7E3125CB43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7697" y="10725307"/>
            <a:ext cx="1642644" cy="1642644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57CB2E7B-EE05-9074-E5AA-8227FCDA31AA}"/>
              </a:ext>
            </a:extLst>
          </p:cNvPr>
          <p:cNvSpPr txBox="1"/>
          <p:nvPr/>
        </p:nvSpPr>
        <p:spPr>
          <a:xfrm>
            <a:off x="24690264" y="5953105"/>
            <a:ext cx="6307016" cy="394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800"/>
              </a:lnSpc>
            </a:pP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Gaps</a:t>
            </a:r>
          </a:p>
          <a:p>
            <a:pPr marL="342900" indent="-342900">
              <a:lnSpc>
                <a:spcPts val="38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ckwell" panose="02060603020205020403" pitchFamily="18" charset="0"/>
                <a:cs typeface="Arial" panose="020B0604020202020204" pitchFamily="34" charset="0"/>
              </a:rPr>
              <a:t>Underutilization of the seven available Pentacam maps</a:t>
            </a:r>
          </a:p>
          <a:p>
            <a:pPr marL="342900" indent="-342900">
              <a:lnSpc>
                <a:spcPts val="38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ckwell" panose="02060603020205020403" pitchFamily="18" charset="0"/>
                <a:cs typeface="Arial" panose="020B0604020202020204" pitchFamily="34" charset="0"/>
              </a:rPr>
              <a:t>Limited cross-ethnic validation</a:t>
            </a:r>
          </a:p>
          <a:p>
            <a:pPr marL="342900" indent="-342900">
              <a:lnSpc>
                <a:spcPts val="38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ckwell" panose="02060603020205020403" pitchFamily="18" charset="0"/>
                <a:cs typeface="Arial" panose="020B0604020202020204" pitchFamily="34" charset="0"/>
              </a:rPr>
              <a:t>Heavy dependence on specific CNN architectures</a:t>
            </a:r>
          </a:p>
          <a:p>
            <a:pPr marL="342900" indent="-342900">
              <a:lnSpc>
                <a:spcPts val="38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ckwell" panose="02060603020205020403" pitchFamily="18" charset="0"/>
                <a:cs typeface="Arial" panose="020B0604020202020204" pitchFamily="34" charset="0"/>
              </a:rPr>
              <a:t>Difficulty identifying suspect keratoconus cases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14A45F2-FE45-8233-26F4-ECF4184FD612}"/>
              </a:ext>
            </a:extLst>
          </p:cNvPr>
          <p:cNvCxnSpPr>
            <a:cxnSpLocks/>
          </p:cNvCxnSpPr>
          <p:nvPr/>
        </p:nvCxnSpPr>
        <p:spPr>
          <a:xfrm>
            <a:off x="24170640" y="5985033"/>
            <a:ext cx="0" cy="3945580"/>
          </a:xfrm>
          <a:prstGeom prst="line">
            <a:avLst/>
          </a:prstGeom>
          <a:ln w="38100">
            <a:gradFill flip="none" rotWithShape="1">
              <a:gsLst>
                <a:gs pos="74000">
                  <a:schemeClr val="tx1">
                    <a:lumMod val="85000"/>
                    <a:lumOff val="15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30000">
                  <a:schemeClr val="tx1">
                    <a:lumMod val="85000"/>
                    <a:lumOff val="15000"/>
                  </a:schemeClr>
                </a:gs>
                <a:gs pos="100000">
                  <a:schemeClr val="bg1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6" name="Picture 75">
            <a:extLst>
              <a:ext uri="{FF2B5EF4-FFF2-40B4-BE49-F238E27FC236}">
                <a16:creationId xmlns:a16="http://schemas.microsoft.com/office/drawing/2014/main" id="{5FEBD2DE-7E67-ADE8-CEB6-9D40507376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8606" y="5464150"/>
            <a:ext cx="4227739" cy="5589927"/>
          </a:xfrm>
          <a:prstGeom prst="rect">
            <a:avLst/>
          </a:prstGeom>
        </p:spPr>
      </p:pic>
      <p:grpSp>
        <p:nvGrpSpPr>
          <p:cNvPr id="80" name="Group 79">
            <a:extLst>
              <a:ext uri="{FF2B5EF4-FFF2-40B4-BE49-F238E27FC236}">
                <a16:creationId xmlns:a16="http://schemas.microsoft.com/office/drawing/2014/main" id="{28C5BF3D-ECAF-1D9A-95E8-6EFD86944F9B}"/>
              </a:ext>
            </a:extLst>
          </p:cNvPr>
          <p:cNvGrpSpPr/>
          <p:nvPr/>
        </p:nvGrpSpPr>
        <p:grpSpPr>
          <a:xfrm>
            <a:off x="457200" y="12806780"/>
            <a:ext cx="32004000" cy="15809678"/>
            <a:chOff x="9631679" y="5064221"/>
            <a:chExt cx="22829521" cy="9050364"/>
          </a:xfrm>
        </p:grpSpPr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2024718C-3203-D6AB-1D48-70D6ED0F6719}"/>
                </a:ext>
              </a:extLst>
            </p:cNvPr>
            <p:cNvSpPr/>
            <p:nvPr/>
          </p:nvSpPr>
          <p:spPr>
            <a:xfrm>
              <a:off x="9631679" y="5064221"/>
              <a:ext cx="22829521" cy="9050364"/>
            </a:xfrm>
            <a:prstGeom prst="roundRect">
              <a:avLst>
                <a:gd name="adj" fmla="val 2099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endParaRPr lang="en-US" sz="2400" dirty="0">
                <a:solidFill>
                  <a:schemeClr val="tx1"/>
                </a:solidFill>
                <a:latin typeface="Rockwell" panose="02060603020205020403" pitchFamily="18" charset="0"/>
              </a:endParaRPr>
            </a:p>
          </p:txBody>
        </p:sp>
        <p:sp>
          <p:nvSpPr>
            <p:cNvPr id="82" name="Rectangle: Top Corners Rounded 81">
              <a:extLst>
                <a:ext uri="{FF2B5EF4-FFF2-40B4-BE49-F238E27FC236}">
                  <a16:creationId xmlns:a16="http://schemas.microsoft.com/office/drawing/2014/main" id="{97EE6614-E44E-1086-9F0C-EF4BF3716764}"/>
                </a:ext>
              </a:extLst>
            </p:cNvPr>
            <p:cNvSpPr/>
            <p:nvPr/>
          </p:nvSpPr>
          <p:spPr>
            <a:xfrm>
              <a:off x="9631680" y="5064222"/>
              <a:ext cx="22829520" cy="577357"/>
            </a:xfrm>
            <a:prstGeom prst="round2Same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METHODOLOGY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3D3A855-777F-C99B-8A97-E633AC11D3DA}"/>
              </a:ext>
            </a:extLst>
          </p:cNvPr>
          <p:cNvGrpSpPr/>
          <p:nvPr/>
        </p:nvGrpSpPr>
        <p:grpSpPr>
          <a:xfrm>
            <a:off x="682283" y="13982919"/>
            <a:ext cx="5897705" cy="8390945"/>
            <a:chOff x="1078523" y="15688443"/>
            <a:chExt cx="7971692" cy="7908298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1FE42C14-BDB4-506F-8404-A6EE3911D413}"/>
                </a:ext>
              </a:extLst>
            </p:cNvPr>
            <p:cNvSpPr/>
            <p:nvPr/>
          </p:nvSpPr>
          <p:spPr>
            <a:xfrm>
              <a:off x="1078523" y="16224739"/>
              <a:ext cx="7971692" cy="7372002"/>
            </a:xfrm>
            <a:prstGeom prst="roundRect">
              <a:avLst>
                <a:gd name="adj" fmla="val 3432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0" tIns="91440" rtlCol="0" anchor="t"/>
            <a:lstStyle/>
            <a:p>
              <a:pPr>
                <a:lnSpc>
                  <a:spcPct val="150000"/>
                </a:lnSpc>
              </a:pPr>
              <a:r>
                <a:rPr lang="en-US" sz="3200" b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Brazilian Dataset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chemeClr val="tx1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Total Dataset:</a:t>
              </a: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 573 eyes</a:t>
              </a:r>
            </a:p>
            <a:p>
              <a:pPr marL="800100" lvl="1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Normal: 150 + 50 = 200 eyes</a:t>
              </a:r>
            </a:p>
            <a:p>
              <a:pPr marL="800100" lvl="1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Suspect: 123 + 50 = 173 eyes</a:t>
              </a:r>
            </a:p>
            <a:p>
              <a:pPr marL="800100" lvl="1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Keratoconus: 150 + 50 = 200 eyes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Each eye has seven Pentacam maps</a:t>
              </a:r>
            </a:p>
            <a:p>
              <a:pPr>
                <a:lnSpc>
                  <a:spcPct val="150000"/>
                </a:lnSpc>
              </a:pPr>
              <a:endParaRPr lang="en-US" sz="2400" dirty="0">
                <a:solidFill>
                  <a:schemeClr val="tx1"/>
                </a:solidFill>
                <a:latin typeface="Rockwell" panose="02060603020205020403" pitchFamily="18" charset="0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3200" b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Bangladeshi Dataset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142 eyes collected from National Institute of Ophthalmology &amp; Hospital, Dhaka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Labels are generated using BAD-D range and some clinical parameters</a:t>
              </a:r>
            </a:p>
          </p:txBody>
        </p:sp>
        <p:sp>
          <p:nvSpPr>
            <p:cNvPr id="4" name="Rectangle: Top Corners Rounded 3">
              <a:extLst>
                <a:ext uri="{FF2B5EF4-FFF2-40B4-BE49-F238E27FC236}">
                  <a16:creationId xmlns:a16="http://schemas.microsoft.com/office/drawing/2014/main" id="{331357C0-45B9-3980-D793-427219A597B6}"/>
                </a:ext>
              </a:extLst>
            </p:cNvPr>
            <p:cNvSpPr/>
            <p:nvPr/>
          </p:nvSpPr>
          <p:spPr>
            <a:xfrm>
              <a:off x="1356995" y="15688443"/>
              <a:ext cx="2567295" cy="536296"/>
            </a:xfrm>
            <a:prstGeom prst="round2SameRect">
              <a:avLst/>
            </a:prstGeom>
            <a:solidFill>
              <a:srgbClr val="0033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ctr"/>
              <a:r>
                <a:rPr lang="en-US" sz="3400" b="1" dirty="0">
                  <a:latin typeface="Arial" panose="020B0604020202020204" pitchFamily="34" charset="0"/>
                  <a:cs typeface="Arial" panose="020B0604020202020204" pitchFamily="34" charset="0"/>
                </a:rPr>
                <a:t>Dataset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8DF445-FF31-249C-6389-080FC807F366}"/>
              </a:ext>
            </a:extLst>
          </p:cNvPr>
          <p:cNvCxnSpPr>
            <a:cxnSpLocks/>
          </p:cNvCxnSpPr>
          <p:nvPr/>
        </p:nvCxnSpPr>
        <p:spPr>
          <a:xfrm>
            <a:off x="903341" y="18504174"/>
            <a:ext cx="5208092" cy="0"/>
          </a:xfrm>
          <a:prstGeom prst="line">
            <a:avLst/>
          </a:prstGeom>
          <a:ln w="57150">
            <a:gradFill flip="none" rotWithShape="1">
              <a:gsLst>
                <a:gs pos="100000">
                  <a:schemeClr val="bg1">
                    <a:alpha val="0"/>
                    <a:lumMod val="100000"/>
                  </a:schemeClr>
                </a:gs>
                <a:gs pos="28000">
                  <a:srgbClr val="494949"/>
                </a:gs>
                <a:gs pos="75000">
                  <a:srgbClr val="606060"/>
                </a:gs>
                <a:gs pos="50000">
                  <a:schemeClr val="tx1">
                    <a:lumMod val="75000"/>
                    <a:lumOff val="25000"/>
                  </a:schemeClr>
                </a:gs>
                <a:gs pos="0">
                  <a:schemeClr val="bg1">
                    <a:alpha val="0"/>
                    <a:lumMod val="10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6C6865E1-7411-95A6-E5D8-B60D3000E874}"/>
              </a:ext>
            </a:extLst>
          </p:cNvPr>
          <p:cNvGrpSpPr/>
          <p:nvPr/>
        </p:nvGrpSpPr>
        <p:grpSpPr>
          <a:xfrm>
            <a:off x="6736232" y="13982918"/>
            <a:ext cx="4053654" cy="2968284"/>
            <a:chOff x="7307490" y="13982918"/>
            <a:chExt cx="5189093" cy="2968284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8CC0505-1B40-7E4E-0181-4617DF670C5D}"/>
                </a:ext>
              </a:extLst>
            </p:cNvPr>
            <p:cNvSpPr/>
            <p:nvPr/>
          </p:nvSpPr>
          <p:spPr>
            <a:xfrm>
              <a:off x="7307490" y="14966574"/>
              <a:ext cx="5189093" cy="1984628"/>
            </a:xfrm>
            <a:prstGeom prst="roundRect">
              <a:avLst>
                <a:gd name="adj" fmla="val 8145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342900" indent="-342900">
                <a:lnSpc>
                  <a:spcPts val="36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Cropping</a:t>
              </a:r>
            </a:p>
            <a:p>
              <a:pPr marL="342900" indent="-342900">
                <a:lnSpc>
                  <a:spcPts val="36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Contour detection</a:t>
              </a:r>
            </a:p>
            <a:p>
              <a:pPr marL="342900" indent="-342900">
                <a:lnSpc>
                  <a:spcPts val="36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Grayscale conversion</a:t>
              </a:r>
            </a:p>
            <a:p>
              <a:pPr marL="342900" indent="-342900">
                <a:lnSpc>
                  <a:spcPts val="36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Image resizing</a:t>
              </a:r>
            </a:p>
          </p:txBody>
        </p:sp>
        <p:sp>
          <p:nvSpPr>
            <p:cNvPr id="19" name="Rectangle: Top Corners Rounded 18">
              <a:extLst>
                <a:ext uri="{FF2B5EF4-FFF2-40B4-BE49-F238E27FC236}">
                  <a16:creationId xmlns:a16="http://schemas.microsoft.com/office/drawing/2014/main" id="{CBEE78A1-D662-8789-A470-518D1E71BC70}"/>
                </a:ext>
              </a:extLst>
            </p:cNvPr>
            <p:cNvSpPr/>
            <p:nvPr/>
          </p:nvSpPr>
          <p:spPr>
            <a:xfrm>
              <a:off x="7568450" y="13982918"/>
              <a:ext cx="4704049" cy="983656"/>
            </a:xfrm>
            <a:prstGeom prst="round2SameRect">
              <a:avLst/>
            </a:prstGeom>
            <a:solidFill>
              <a:srgbClr val="00339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bIns="137160" rtlCol="0" anchor="ctr"/>
            <a:lstStyle/>
            <a:p>
              <a:pPr algn="ctr"/>
              <a:r>
                <a:rPr lang="en-US" sz="3400" b="1" dirty="0">
                  <a:latin typeface="Arial" panose="020B0604020202020204" pitchFamily="34" charset="0"/>
                  <a:cs typeface="Arial" panose="020B0604020202020204" pitchFamily="34" charset="0"/>
                </a:rPr>
                <a:t>Data Preprocessing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F348163-4F2D-F45F-F910-29836E83BDB7}"/>
              </a:ext>
            </a:extLst>
          </p:cNvPr>
          <p:cNvGrpSpPr/>
          <p:nvPr/>
        </p:nvGrpSpPr>
        <p:grpSpPr>
          <a:xfrm>
            <a:off x="6736232" y="17076836"/>
            <a:ext cx="4053654" cy="3490010"/>
            <a:chOff x="7307490" y="17076836"/>
            <a:chExt cx="5189093" cy="3490010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47A1196-EF73-5917-BC61-032F0A37F9E0}"/>
                </a:ext>
              </a:extLst>
            </p:cNvPr>
            <p:cNvSpPr/>
            <p:nvPr/>
          </p:nvSpPr>
          <p:spPr>
            <a:xfrm>
              <a:off x="7307490" y="18102435"/>
              <a:ext cx="5189093" cy="2464411"/>
            </a:xfrm>
            <a:prstGeom prst="roundRect">
              <a:avLst>
                <a:gd name="adj" fmla="val 8145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342900" indent="-342900">
                <a:lnSpc>
                  <a:spcPts val="36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Rotation</a:t>
              </a:r>
            </a:p>
            <a:p>
              <a:pPr marL="342900" indent="-342900">
                <a:lnSpc>
                  <a:spcPts val="36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Horizontal Flip</a:t>
              </a:r>
            </a:p>
            <a:p>
              <a:pPr marL="342900" indent="-342900">
                <a:lnSpc>
                  <a:spcPts val="36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Brightness / Contrast</a:t>
              </a:r>
            </a:p>
            <a:p>
              <a:pPr marL="342900" indent="-342900">
                <a:lnSpc>
                  <a:spcPts val="36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Adjustment</a:t>
              </a:r>
            </a:p>
            <a:p>
              <a:pPr marL="342900" indent="-342900">
                <a:lnSpc>
                  <a:spcPts val="36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Gaussian Blur</a:t>
              </a:r>
            </a:p>
          </p:txBody>
        </p:sp>
        <p:sp>
          <p:nvSpPr>
            <p:cNvPr id="36" name="Rectangle: Top Corners Rounded 35">
              <a:extLst>
                <a:ext uri="{FF2B5EF4-FFF2-40B4-BE49-F238E27FC236}">
                  <a16:creationId xmlns:a16="http://schemas.microsoft.com/office/drawing/2014/main" id="{16FA21C1-006B-F41A-9854-D376FFCDA286}"/>
                </a:ext>
              </a:extLst>
            </p:cNvPr>
            <p:cNvSpPr/>
            <p:nvPr/>
          </p:nvSpPr>
          <p:spPr>
            <a:xfrm>
              <a:off x="7568450" y="17076836"/>
              <a:ext cx="4704049" cy="1025599"/>
            </a:xfrm>
            <a:prstGeom prst="round2SameRect">
              <a:avLst/>
            </a:prstGeom>
            <a:solidFill>
              <a:srgbClr val="00339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bIns="137160" rtlCol="0" anchor="ctr"/>
            <a:lstStyle/>
            <a:p>
              <a:pPr algn="ctr"/>
              <a:r>
                <a:rPr lang="en-US" sz="3400" b="1" dirty="0">
                  <a:latin typeface="Arial" panose="020B0604020202020204" pitchFamily="34" charset="0"/>
                  <a:cs typeface="Arial" panose="020B0604020202020204" pitchFamily="34" charset="0"/>
                </a:rPr>
                <a:t>Data Augmentation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EFFFE2E-49DE-8740-3043-646ECBC449BD}"/>
              </a:ext>
            </a:extLst>
          </p:cNvPr>
          <p:cNvGrpSpPr/>
          <p:nvPr/>
        </p:nvGrpSpPr>
        <p:grpSpPr>
          <a:xfrm>
            <a:off x="6736232" y="20711619"/>
            <a:ext cx="4053654" cy="1662245"/>
            <a:chOff x="7307490" y="20944767"/>
            <a:chExt cx="5189093" cy="1662245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F503D427-91EC-F45C-A70B-9B41F79616A1}"/>
                </a:ext>
              </a:extLst>
            </p:cNvPr>
            <p:cNvSpPr/>
            <p:nvPr/>
          </p:nvSpPr>
          <p:spPr>
            <a:xfrm>
              <a:off x="7307490" y="21508020"/>
              <a:ext cx="5189093" cy="1098992"/>
            </a:xfrm>
            <a:prstGeom prst="roundRect">
              <a:avLst>
                <a:gd name="adj" fmla="val 8145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342900" indent="-342900">
                <a:lnSpc>
                  <a:spcPts val="36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SMOTE</a:t>
              </a:r>
            </a:p>
            <a:p>
              <a:pPr marL="342900" indent="-342900">
                <a:lnSpc>
                  <a:spcPts val="36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Class-weighted SVM</a:t>
              </a:r>
            </a:p>
          </p:txBody>
        </p:sp>
        <p:sp>
          <p:nvSpPr>
            <p:cNvPr id="38" name="Rectangle: Top Corners Rounded 37">
              <a:extLst>
                <a:ext uri="{FF2B5EF4-FFF2-40B4-BE49-F238E27FC236}">
                  <a16:creationId xmlns:a16="http://schemas.microsoft.com/office/drawing/2014/main" id="{168C31E4-2A9D-2E48-FCF6-059D5343BC9A}"/>
                </a:ext>
              </a:extLst>
            </p:cNvPr>
            <p:cNvSpPr/>
            <p:nvPr/>
          </p:nvSpPr>
          <p:spPr>
            <a:xfrm>
              <a:off x="7568450" y="20944767"/>
              <a:ext cx="4704049" cy="563252"/>
            </a:xfrm>
            <a:prstGeom prst="round2SameRect">
              <a:avLst/>
            </a:prstGeom>
            <a:solidFill>
              <a:srgbClr val="00339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bIns="137160" rtlCol="0" anchor="ctr"/>
            <a:lstStyle/>
            <a:p>
              <a:pPr algn="ctr"/>
              <a:r>
                <a:rPr lang="en-US" sz="3400" b="1" dirty="0">
                  <a:latin typeface="Arial" panose="020B0604020202020204" pitchFamily="34" charset="0"/>
                  <a:cs typeface="Arial" panose="020B0604020202020204" pitchFamily="34" charset="0"/>
                </a:rPr>
                <a:t>Class Balancing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61679D-8C7B-0522-7188-8959538C7744}"/>
              </a:ext>
            </a:extLst>
          </p:cNvPr>
          <p:cNvGrpSpPr/>
          <p:nvPr/>
        </p:nvGrpSpPr>
        <p:grpSpPr>
          <a:xfrm>
            <a:off x="10915253" y="13969136"/>
            <a:ext cx="21235052" cy="14501637"/>
            <a:chOff x="12713991" y="13969137"/>
            <a:chExt cx="19436313" cy="14171772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886C7E88-16A6-0398-F891-412C95BF7562}"/>
                </a:ext>
              </a:extLst>
            </p:cNvPr>
            <p:cNvSpPr/>
            <p:nvPr/>
          </p:nvSpPr>
          <p:spPr>
            <a:xfrm>
              <a:off x="12713991" y="14532389"/>
              <a:ext cx="19436313" cy="13608520"/>
            </a:xfrm>
            <a:prstGeom prst="roundRect">
              <a:avLst>
                <a:gd name="adj" fmla="val 2941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2400" dirty="0">
                <a:solidFill>
                  <a:schemeClr val="tx1"/>
                </a:solidFill>
                <a:latin typeface="Rockwell" panose="02060603020205020403" pitchFamily="18" charset="0"/>
              </a:endParaRPr>
            </a:p>
          </p:txBody>
        </p:sp>
        <p:sp>
          <p:nvSpPr>
            <p:cNvPr id="40" name="Rectangle: Top Corners Rounded 39">
              <a:extLst>
                <a:ext uri="{FF2B5EF4-FFF2-40B4-BE49-F238E27FC236}">
                  <a16:creationId xmlns:a16="http://schemas.microsoft.com/office/drawing/2014/main" id="{385B1529-824A-7315-288F-1E79D36DF1C0}"/>
                </a:ext>
              </a:extLst>
            </p:cNvPr>
            <p:cNvSpPr/>
            <p:nvPr/>
          </p:nvSpPr>
          <p:spPr>
            <a:xfrm>
              <a:off x="13180676" y="13969137"/>
              <a:ext cx="4991577" cy="563252"/>
            </a:xfrm>
            <a:prstGeom prst="round2SameRect">
              <a:avLst/>
            </a:prstGeom>
            <a:solidFill>
              <a:srgbClr val="00339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bIns="137160" rtlCol="0" anchor="ctr"/>
            <a:lstStyle/>
            <a:p>
              <a:pPr algn="ctr"/>
              <a:r>
                <a:rPr lang="en-US" sz="3400" b="1" dirty="0">
                  <a:latin typeface="Arial" panose="020B0604020202020204" pitchFamily="34" charset="0"/>
                  <a:cs typeface="Arial" panose="020B0604020202020204" pitchFamily="34" charset="0"/>
                </a:rPr>
                <a:t>Proposed Framework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430731F-081C-8D33-593A-9A9CB74BBEF0}"/>
              </a:ext>
            </a:extLst>
          </p:cNvPr>
          <p:cNvGrpSpPr/>
          <p:nvPr/>
        </p:nvGrpSpPr>
        <p:grpSpPr>
          <a:xfrm>
            <a:off x="11162560" y="20532861"/>
            <a:ext cx="13613338" cy="7535661"/>
            <a:chOff x="13903569" y="16599877"/>
            <a:chExt cx="13442785" cy="7535661"/>
          </a:xfrm>
        </p:grpSpPr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58ED5516-0AF0-31BD-62CE-371D3FAF9EBB}"/>
                </a:ext>
              </a:extLst>
            </p:cNvPr>
            <p:cNvSpPr/>
            <p:nvPr/>
          </p:nvSpPr>
          <p:spPr>
            <a:xfrm>
              <a:off x="13903569" y="16599877"/>
              <a:ext cx="13442785" cy="7535661"/>
            </a:xfrm>
            <a:prstGeom prst="roundRect">
              <a:avLst>
                <a:gd name="adj" fmla="val 1794"/>
              </a:avLst>
            </a:prstGeom>
            <a:solidFill>
              <a:srgbClr val="FFFF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3200" b="1" dirty="0">
                  <a:solidFill>
                    <a:srgbClr val="00339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Stage 1: Multi-Map Feature Extraction</a:t>
              </a:r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DE093C39-D456-84D6-9B44-F44D79849224}"/>
                </a:ext>
              </a:extLst>
            </p:cNvPr>
            <p:cNvSpPr/>
            <p:nvPr/>
          </p:nvSpPr>
          <p:spPr>
            <a:xfrm>
              <a:off x="14155839" y="17312815"/>
              <a:ext cx="12975221" cy="3280614"/>
            </a:xfrm>
            <a:prstGeom prst="roundRect">
              <a:avLst/>
            </a:prstGeom>
            <a:solidFill>
              <a:srgbClr val="F0FCF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Seven Pentacam maps per eye</a:t>
              </a: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1D5CA903-B5B3-786C-0B5E-2732BC448D2F}"/>
                </a:ext>
              </a:extLst>
            </p:cNvPr>
            <p:cNvGrpSpPr/>
            <p:nvPr/>
          </p:nvGrpSpPr>
          <p:grpSpPr>
            <a:xfrm>
              <a:off x="14262484" y="18210601"/>
              <a:ext cx="12975220" cy="2339487"/>
              <a:chOff x="13892094" y="16757192"/>
              <a:chExt cx="12975220" cy="2339487"/>
            </a:xfrm>
          </p:grpSpPr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A273898C-37FF-EC55-2AE7-8DA9C782A7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998741" y="16757192"/>
                <a:ext cx="1714500" cy="1724025"/>
              </a:xfrm>
              <a:prstGeom prst="rect">
                <a:avLst/>
              </a:prstGeom>
            </p:spPr>
          </p:pic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D94E37B4-5D9E-CA9F-E4EA-3E3F110DD1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807553" y="16757192"/>
                <a:ext cx="1724025" cy="1724025"/>
              </a:xfrm>
              <a:prstGeom prst="rect">
                <a:avLst/>
              </a:prstGeom>
            </p:spPr>
          </p:pic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19379BDE-4836-A233-62B5-41C35C6344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620980" y="16757192"/>
                <a:ext cx="1714500" cy="1724025"/>
              </a:xfrm>
              <a:prstGeom prst="rect">
                <a:avLst/>
              </a:prstGeom>
            </p:spPr>
          </p:pic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296D3AE6-3AED-0991-FF89-C120158BBD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424884" y="16762686"/>
                <a:ext cx="1714500" cy="1724025"/>
              </a:xfrm>
              <a:prstGeom prst="rect">
                <a:avLst/>
              </a:prstGeom>
            </p:spPr>
          </p:pic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8A719FD0-E581-9513-9739-D6C6D293EA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228786" y="16757192"/>
                <a:ext cx="1714500" cy="1714500"/>
              </a:xfrm>
              <a:prstGeom prst="rect">
                <a:avLst/>
              </a:prstGeom>
            </p:spPr>
          </p:pic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70E53A76-7C0A-4541-B197-2DE16644BD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043335" y="16766717"/>
                <a:ext cx="1714500" cy="1714500"/>
              </a:xfrm>
              <a:prstGeom prst="rect">
                <a:avLst/>
              </a:prstGeom>
            </p:spPr>
          </p:pic>
          <p:pic>
            <p:nvPicPr>
              <p:cNvPr id="79" name="Picture 78">
                <a:extLst>
                  <a:ext uri="{FF2B5EF4-FFF2-40B4-BE49-F238E27FC236}">
                    <a16:creationId xmlns:a16="http://schemas.microsoft.com/office/drawing/2014/main" id="{89CCEF8E-65E4-4B9D-8681-D066EC709E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851625" y="16762842"/>
                <a:ext cx="1714500" cy="1714500"/>
              </a:xfrm>
              <a:prstGeom prst="rect">
                <a:avLst/>
              </a:prstGeom>
            </p:spPr>
          </p:pic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21F0AE1-AE04-70A2-28B2-F826A83D63E3}"/>
                  </a:ext>
                </a:extLst>
              </p:cNvPr>
              <p:cNvSpPr txBox="1"/>
              <p:nvPr/>
            </p:nvSpPr>
            <p:spPr>
              <a:xfrm>
                <a:off x="13892094" y="18635014"/>
                <a:ext cx="129752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Rockwell" panose="02060603020205020403" pitchFamily="18" charset="0"/>
                  </a:rPr>
                  <a:t>	SAG_A 		SAG_P 		ELV_A 		ELV_P 		  CT_A 		EC_A 			 EC_P</a:t>
                </a:r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CFADBA38-BAC9-C0DD-0DC9-933CBEB2C614}"/>
                </a:ext>
              </a:extLst>
            </p:cNvPr>
            <p:cNvGrpSpPr/>
            <p:nvPr/>
          </p:nvGrpSpPr>
          <p:grpSpPr>
            <a:xfrm>
              <a:off x="14155837" y="21555628"/>
              <a:ext cx="12975223" cy="2282353"/>
              <a:chOff x="14155837" y="20696078"/>
              <a:chExt cx="12975223" cy="2282353"/>
            </a:xfrm>
          </p:grpSpPr>
          <p:sp>
            <p:nvSpPr>
              <p:cNvPr id="86" name="Rectangle: Rounded Corners 85">
                <a:extLst>
                  <a:ext uri="{FF2B5EF4-FFF2-40B4-BE49-F238E27FC236}">
                    <a16:creationId xmlns:a16="http://schemas.microsoft.com/office/drawing/2014/main" id="{770F3B82-45DE-D8D8-D0BD-16473E784F9C}"/>
                  </a:ext>
                </a:extLst>
              </p:cNvPr>
              <p:cNvSpPr/>
              <p:nvPr/>
            </p:nvSpPr>
            <p:spPr>
              <a:xfrm>
                <a:off x="14155837" y="20696078"/>
                <a:ext cx="12975223" cy="2282353"/>
              </a:xfrm>
              <a:prstGeom prst="roundRect">
                <a:avLst/>
              </a:prstGeom>
              <a:solidFill>
                <a:srgbClr val="F0FCF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2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Pre-trained CNN (Feature Extractors)</a:t>
                </a:r>
              </a:p>
            </p:txBody>
          </p:sp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4AE50152-4503-8774-F28C-2539D3DF33E7}"/>
                  </a:ext>
                </a:extLst>
              </p:cNvPr>
              <p:cNvGrpSpPr/>
              <p:nvPr/>
            </p:nvGrpSpPr>
            <p:grpSpPr>
              <a:xfrm>
                <a:off x="14532129" y="21413164"/>
                <a:ext cx="12290867" cy="1393065"/>
                <a:chOff x="14532129" y="21413164"/>
                <a:chExt cx="12290867" cy="1393065"/>
              </a:xfrm>
            </p:grpSpPr>
            <p:sp>
              <p:nvSpPr>
                <p:cNvPr id="87" name="Rectangle: Rounded Corners 86">
                  <a:extLst>
                    <a:ext uri="{FF2B5EF4-FFF2-40B4-BE49-F238E27FC236}">
                      <a16:creationId xmlns:a16="http://schemas.microsoft.com/office/drawing/2014/main" id="{1C416CA5-6D5F-6933-92F3-7E5BF16D85F3}"/>
                    </a:ext>
                  </a:extLst>
                </p:cNvPr>
                <p:cNvSpPr/>
                <p:nvPr/>
              </p:nvSpPr>
              <p:spPr>
                <a:xfrm>
                  <a:off x="14532129" y="21413164"/>
                  <a:ext cx="2762716" cy="1390395"/>
                </a:xfrm>
                <a:prstGeom prst="roundRect">
                  <a:avLst/>
                </a:prstGeom>
                <a:solidFill>
                  <a:srgbClr val="333399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latin typeface="Rockwell" panose="02060603020205020403" pitchFamily="18" charset="0"/>
                    </a:rPr>
                    <a:t>DenseNet-121</a:t>
                  </a:r>
                </a:p>
              </p:txBody>
            </p:sp>
            <p:sp>
              <p:nvSpPr>
                <p:cNvPr id="88" name="Rectangle: Rounded Corners 87">
                  <a:extLst>
                    <a:ext uri="{FF2B5EF4-FFF2-40B4-BE49-F238E27FC236}">
                      <a16:creationId xmlns:a16="http://schemas.microsoft.com/office/drawing/2014/main" id="{52497B90-261E-733F-65C7-5217AF9B785A}"/>
                    </a:ext>
                  </a:extLst>
                </p:cNvPr>
                <p:cNvSpPr/>
                <p:nvPr/>
              </p:nvSpPr>
              <p:spPr>
                <a:xfrm>
                  <a:off x="17568936" y="21413164"/>
                  <a:ext cx="2583479" cy="1390395"/>
                </a:xfrm>
                <a:prstGeom prst="roundRect">
                  <a:avLst/>
                </a:prstGeom>
                <a:solidFill>
                  <a:srgbClr val="66006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latin typeface="Rockwell" panose="02060603020205020403" pitchFamily="18" charset="0"/>
                    </a:rPr>
                    <a:t>ResNet-50</a:t>
                  </a:r>
                </a:p>
              </p:txBody>
            </p:sp>
            <p:sp>
              <p:nvSpPr>
                <p:cNvPr id="89" name="Rectangle: Rounded Corners 88">
                  <a:extLst>
                    <a:ext uri="{FF2B5EF4-FFF2-40B4-BE49-F238E27FC236}">
                      <a16:creationId xmlns:a16="http://schemas.microsoft.com/office/drawing/2014/main" id="{5545372A-987B-B44F-4E93-44DC41D0B733}"/>
                    </a:ext>
                  </a:extLst>
                </p:cNvPr>
                <p:cNvSpPr/>
                <p:nvPr/>
              </p:nvSpPr>
              <p:spPr>
                <a:xfrm>
                  <a:off x="20447265" y="21415834"/>
                  <a:ext cx="2924454" cy="1390395"/>
                </a:xfrm>
                <a:prstGeom prst="roundRect">
                  <a:avLst/>
                </a:prstGeom>
                <a:solidFill>
                  <a:schemeClr val="accent6">
                    <a:lumMod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latin typeface="Rockwell" panose="02060603020205020403" pitchFamily="18" charset="0"/>
                    </a:rPr>
                    <a:t>EfficientNet-B4</a:t>
                  </a:r>
                </a:p>
              </p:txBody>
            </p:sp>
            <p:sp>
              <p:nvSpPr>
                <p:cNvPr id="90" name="Rectangle: Rounded Corners 89">
                  <a:extLst>
                    <a:ext uri="{FF2B5EF4-FFF2-40B4-BE49-F238E27FC236}">
                      <a16:creationId xmlns:a16="http://schemas.microsoft.com/office/drawing/2014/main" id="{DF025391-96C2-5059-214E-65EC61574678}"/>
                    </a:ext>
                  </a:extLst>
                </p:cNvPr>
                <p:cNvSpPr/>
                <p:nvPr/>
              </p:nvSpPr>
              <p:spPr>
                <a:xfrm>
                  <a:off x="23694538" y="21413164"/>
                  <a:ext cx="3128458" cy="1390395"/>
                </a:xfrm>
                <a:prstGeom prst="roundRect">
                  <a:avLst/>
                </a:prstGeom>
                <a:solidFill>
                  <a:schemeClr val="accent1">
                    <a:lumMod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latin typeface="Rockwell" panose="02060603020205020403" pitchFamily="18" charset="0"/>
                    </a:rPr>
                    <a:t>MobileNetV3-Large</a:t>
                  </a:r>
                </a:p>
              </p:txBody>
            </p:sp>
          </p:grpSp>
        </p:grpSp>
        <p:sp>
          <p:nvSpPr>
            <p:cNvPr id="96" name="Arrow: Down 95">
              <a:extLst>
                <a:ext uri="{FF2B5EF4-FFF2-40B4-BE49-F238E27FC236}">
                  <a16:creationId xmlns:a16="http://schemas.microsoft.com/office/drawing/2014/main" id="{69D27F83-A239-E2E1-9B96-AF8A9DA73632}"/>
                </a:ext>
              </a:extLst>
            </p:cNvPr>
            <p:cNvSpPr/>
            <p:nvPr/>
          </p:nvSpPr>
          <p:spPr>
            <a:xfrm>
              <a:off x="20447264" y="20606871"/>
              <a:ext cx="856244" cy="933816"/>
            </a:xfrm>
            <a:prstGeom prst="down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8242417-874C-81E5-6DBA-185EA80570B2}"/>
              </a:ext>
            </a:extLst>
          </p:cNvPr>
          <p:cNvGrpSpPr/>
          <p:nvPr/>
        </p:nvGrpSpPr>
        <p:grpSpPr>
          <a:xfrm>
            <a:off x="26399907" y="21702417"/>
            <a:ext cx="5479445" cy="6160278"/>
            <a:chOff x="27159595" y="14628110"/>
            <a:chExt cx="4627043" cy="6084714"/>
          </a:xfrm>
        </p:grpSpPr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FEB26C62-7FB5-9122-41ED-15FD48FE9E4C}"/>
                </a:ext>
              </a:extLst>
            </p:cNvPr>
            <p:cNvSpPr/>
            <p:nvPr/>
          </p:nvSpPr>
          <p:spPr>
            <a:xfrm>
              <a:off x="27159595" y="14628110"/>
              <a:ext cx="4627043" cy="6084714"/>
            </a:xfrm>
            <a:prstGeom prst="roundRect">
              <a:avLst>
                <a:gd name="adj" fmla="val 7975"/>
              </a:avLst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3200" b="1" dirty="0">
                  <a:solidFill>
                    <a:srgbClr val="00339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Stage 2: Feature Optimization</a:t>
              </a: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FB1F619D-416B-FCDE-1EEF-1A65308C0C1D}"/>
                </a:ext>
              </a:extLst>
            </p:cNvPr>
            <p:cNvSpPr/>
            <p:nvPr/>
          </p:nvSpPr>
          <p:spPr>
            <a:xfrm>
              <a:off x="27909521" y="16100196"/>
              <a:ext cx="3159760" cy="740886"/>
            </a:xfrm>
            <a:prstGeom prst="roundRect">
              <a:avLst/>
            </a:prstGeom>
            <a:noFill/>
            <a:ln>
              <a:solidFill>
                <a:srgbClr val="6600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StandardScaler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(Normalization)</a:t>
              </a:r>
            </a:p>
          </p:txBody>
        </p:sp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9C49992A-F46E-0AD2-9982-D0CB116D0A0F}"/>
                </a:ext>
              </a:extLst>
            </p:cNvPr>
            <p:cNvSpPr/>
            <p:nvPr/>
          </p:nvSpPr>
          <p:spPr>
            <a:xfrm>
              <a:off x="27909521" y="17628203"/>
              <a:ext cx="3159760" cy="803380"/>
            </a:xfrm>
            <a:prstGeom prst="roundRect">
              <a:avLst/>
            </a:prstGeom>
            <a:noFill/>
            <a:ln>
              <a:solidFill>
                <a:srgbClr val="6600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SelectKBest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(Feature Selection)</a:t>
              </a:r>
            </a:p>
          </p:txBody>
        </p:sp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07D170F6-E7BC-5708-D9A2-BE35E4B499FB}"/>
                </a:ext>
              </a:extLst>
            </p:cNvPr>
            <p:cNvSpPr/>
            <p:nvPr/>
          </p:nvSpPr>
          <p:spPr>
            <a:xfrm>
              <a:off x="27635179" y="19297418"/>
              <a:ext cx="3759271" cy="740886"/>
            </a:xfrm>
            <a:prstGeom prst="roundRect">
              <a:avLst/>
            </a:prstGeom>
            <a:noFill/>
            <a:ln>
              <a:solidFill>
                <a:srgbClr val="6600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Reduced Feature Vector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(1000 Dimensions)</a:t>
              </a:r>
            </a:p>
          </p:txBody>
        </p:sp>
        <p:sp>
          <p:nvSpPr>
            <p:cNvPr id="105" name="Arrow: Down 104">
              <a:extLst>
                <a:ext uri="{FF2B5EF4-FFF2-40B4-BE49-F238E27FC236}">
                  <a16:creationId xmlns:a16="http://schemas.microsoft.com/office/drawing/2014/main" id="{2338D06D-A0D6-C86D-661D-F5ADD02D38F2}"/>
                </a:ext>
              </a:extLst>
            </p:cNvPr>
            <p:cNvSpPr/>
            <p:nvPr/>
          </p:nvSpPr>
          <p:spPr>
            <a:xfrm>
              <a:off x="29188349" y="16841081"/>
              <a:ext cx="602104" cy="787121"/>
            </a:xfrm>
            <a:prstGeom prst="down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Arrow: Down 105">
              <a:extLst>
                <a:ext uri="{FF2B5EF4-FFF2-40B4-BE49-F238E27FC236}">
                  <a16:creationId xmlns:a16="http://schemas.microsoft.com/office/drawing/2014/main" id="{42DD797E-8005-45AB-58A4-A5DD8724F259}"/>
                </a:ext>
              </a:extLst>
            </p:cNvPr>
            <p:cNvSpPr/>
            <p:nvPr/>
          </p:nvSpPr>
          <p:spPr>
            <a:xfrm>
              <a:off x="29172064" y="18428993"/>
              <a:ext cx="602104" cy="868425"/>
            </a:xfrm>
            <a:prstGeom prst="down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AA41E29-B2E9-EE8A-FA13-A94E75B3F525}"/>
              </a:ext>
            </a:extLst>
          </p:cNvPr>
          <p:cNvGrpSpPr/>
          <p:nvPr/>
        </p:nvGrpSpPr>
        <p:grpSpPr>
          <a:xfrm>
            <a:off x="26216238" y="14692205"/>
            <a:ext cx="6284139" cy="5869428"/>
            <a:chOff x="27407136" y="21928406"/>
            <a:chExt cx="4998603" cy="6084715"/>
          </a:xfrm>
        </p:grpSpPr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6403EDF0-0760-44A8-24BC-8170509C8DB0}"/>
                </a:ext>
              </a:extLst>
            </p:cNvPr>
            <p:cNvSpPr/>
            <p:nvPr/>
          </p:nvSpPr>
          <p:spPr>
            <a:xfrm>
              <a:off x="27407136" y="21928406"/>
              <a:ext cx="4515125" cy="6084715"/>
            </a:xfrm>
            <a:prstGeom prst="roundRect">
              <a:avLst>
                <a:gd name="adj" fmla="val 7975"/>
              </a:avLst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3200" b="1" dirty="0">
                  <a:solidFill>
                    <a:srgbClr val="00339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Stage 3: Feature Optimization</a:t>
              </a: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290C2972-FB7A-1060-2709-038806E9C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88504" y="23164950"/>
              <a:ext cx="2258028" cy="1934916"/>
            </a:xfrm>
            <a:prstGeom prst="rect">
              <a:avLst/>
            </a:prstGeom>
          </p:spPr>
        </p:pic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BC3534CE-E8ED-32A2-A918-D25B100A0B5E}"/>
                </a:ext>
              </a:extLst>
            </p:cNvPr>
            <p:cNvSpPr txBox="1"/>
            <p:nvPr/>
          </p:nvSpPr>
          <p:spPr>
            <a:xfrm>
              <a:off x="28371967" y="25078431"/>
              <a:ext cx="28369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Rockwell" panose="02060603020205020403" pitchFamily="18" charset="0"/>
                </a:rPr>
                <a:t>SVM (RBF Kernel)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28E1FB89-9EDA-6718-E759-2A23EADDFE49}"/>
                </a:ext>
              </a:extLst>
            </p:cNvPr>
            <p:cNvSpPr txBox="1"/>
            <p:nvPr/>
          </p:nvSpPr>
          <p:spPr>
            <a:xfrm>
              <a:off x="27870845" y="25517571"/>
              <a:ext cx="4534894" cy="2241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u="sng" dirty="0">
                  <a:latin typeface="Rockwell" panose="02060603020205020403" pitchFamily="18" charset="0"/>
                </a:rPr>
                <a:t>Hyper Parameters: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latin typeface="Rockwell" panose="02060603020205020403" pitchFamily="18" charset="0"/>
                </a:rPr>
                <a:t>Kernel = RBF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latin typeface="Rockwell" panose="02060603020205020403" pitchFamily="18" charset="0"/>
                </a:rPr>
                <a:t>Regularization Parameter = 5.0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latin typeface="Rockwell" panose="02060603020205020403" pitchFamily="18" charset="0"/>
                </a:rPr>
                <a:t>Gamma = Scale</a:t>
              </a:r>
            </a:p>
          </p:txBody>
        </p:sp>
      </p:grpSp>
      <p:sp>
        <p:nvSpPr>
          <p:cNvPr id="117" name="Arrow: Down 116">
            <a:extLst>
              <a:ext uri="{FF2B5EF4-FFF2-40B4-BE49-F238E27FC236}">
                <a16:creationId xmlns:a16="http://schemas.microsoft.com/office/drawing/2014/main" id="{C56340D4-F9A9-1D6F-A513-0C787F654186}"/>
              </a:ext>
            </a:extLst>
          </p:cNvPr>
          <p:cNvSpPr/>
          <p:nvPr/>
        </p:nvSpPr>
        <p:spPr>
          <a:xfrm rot="16200000">
            <a:off x="25087193" y="24204324"/>
            <a:ext cx="1066465" cy="1604877"/>
          </a:xfrm>
          <a:prstGeom prst="downArrow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700AC82-B9B2-BA42-23EB-EA83BEF4C942}"/>
              </a:ext>
            </a:extLst>
          </p:cNvPr>
          <p:cNvGrpSpPr/>
          <p:nvPr/>
        </p:nvGrpSpPr>
        <p:grpSpPr>
          <a:xfrm>
            <a:off x="457200" y="28742092"/>
            <a:ext cx="32004000" cy="8456205"/>
            <a:chOff x="9631679" y="5064221"/>
            <a:chExt cx="22829521" cy="9050364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965ABF94-AB98-1678-DD55-33C9D2357932}"/>
                </a:ext>
              </a:extLst>
            </p:cNvPr>
            <p:cNvSpPr/>
            <p:nvPr/>
          </p:nvSpPr>
          <p:spPr>
            <a:xfrm>
              <a:off x="9631679" y="5064221"/>
              <a:ext cx="22829521" cy="9050364"/>
            </a:xfrm>
            <a:prstGeom prst="roundRect">
              <a:avLst>
                <a:gd name="adj" fmla="val 2099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endParaRPr lang="en-US" sz="2400" dirty="0">
                <a:solidFill>
                  <a:schemeClr val="tx1"/>
                </a:solidFill>
                <a:latin typeface="Rockwell" panose="02060603020205020403" pitchFamily="18" charset="0"/>
              </a:endParaRPr>
            </a:p>
          </p:txBody>
        </p:sp>
        <p:sp>
          <p:nvSpPr>
            <p:cNvPr id="120" name="Rectangle: Top Corners Rounded 119">
              <a:extLst>
                <a:ext uri="{FF2B5EF4-FFF2-40B4-BE49-F238E27FC236}">
                  <a16:creationId xmlns:a16="http://schemas.microsoft.com/office/drawing/2014/main" id="{55AA947D-1640-3A51-7F0A-7639150B5332}"/>
                </a:ext>
              </a:extLst>
            </p:cNvPr>
            <p:cNvSpPr/>
            <p:nvPr/>
          </p:nvSpPr>
          <p:spPr>
            <a:xfrm>
              <a:off x="9631680" y="5064221"/>
              <a:ext cx="22829520" cy="684159"/>
            </a:xfrm>
            <a:prstGeom prst="round2Same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RESULT ANALYSIS</a:t>
              </a:r>
            </a:p>
          </p:txBody>
        </p:sp>
      </p:grpSp>
      <p:pic>
        <p:nvPicPr>
          <p:cNvPr id="124" name="Picture 123">
            <a:extLst>
              <a:ext uri="{FF2B5EF4-FFF2-40B4-BE49-F238E27FC236}">
                <a16:creationId xmlns:a16="http://schemas.microsoft.com/office/drawing/2014/main" id="{75F2DA72-28C0-77AB-00D0-FDC16E631D7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052" y="14432505"/>
            <a:ext cx="15325970" cy="6197381"/>
          </a:xfrm>
          <a:prstGeom prst="rect">
            <a:avLst/>
          </a:prstGeom>
        </p:spPr>
      </p:pic>
      <p:graphicFrame>
        <p:nvGraphicFramePr>
          <p:cNvPr id="127" name="Table 126">
            <a:extLst>
              <a:ext uri="{FF2B5EF4-FFF2-40B4-BE49-F238E27FC236}">
                <a16:creationId xmlns:a16="http://schemas.microsoft.com/office/drawing/2014/main" id="{2BA95AED-8273-6603-66D0-E1A2C66C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053503"/>
              </p:ext>
            </p:extLst>
          </p:nvPr>
        </p:nvGraphicFramePr>
        <p:xfrm>
          <a:off x="740701" y="23081890"/>
          <a:ext cx="9710115" cy="499872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495166">
                  <a:extLst>
                    <a:ext uri="{9D8B030D-6E8A-4147-A177-3AD203B41FA5}">
                      <a16:colId xmlns:a16="http://schemas.microsoft.com/office/drawing/2014/main" val="3587950810"/>
                    </a:ext>
                  </a:extLst>
                </a:gridCol>
                <a:gridCol w="1741539">
                  <a:extLst>
                    <a:ext uri="{9D8B030D-6E8A-4147-A177-3AD203B41FA5}">
                      <a16:colId xmlns:a16="http://schemas.microsoft.com/office/drawing/2014/main" val="887027623"/>
                    </a:ext>
                  </a:extLst>
                </a:gridCol>
                <a:gridCol w="1618353">
                  <a:extLst>
                    <a:ext uri="{9D8B030D-6E8A-4147-A177-3AD203B41FA5}">
                      <a16:colId xmlns:a16="http://schemas.microsoft.com/office/drawing/2014/main" val="3916130421"/>
                    </a:ext>
                  </a:extLst>
                </a:gridCol>
                <a:gridCol w="1618353">
                  <a:extLst>
                    <a:ext uri="{9D8B030D-6E8A-4147-A177-3AD203B41FA5}">
                      <a16:colId xmlns:a16="http://schemas.microsoft.com/office/drawing/2014/main" val="2071889679"/>
                    </a:ext>
                  </a:extLst>
                </a:gridCol>
                <a:gridCol w="1754363">
                  <a:extLst>
                    <a:ext uri="{9D8B030D-6E8A-4147-A177-3AD203B41FA5}">
                      <a16:colId xmlns:a16="http://schemas.microsoft.com/office/drawing/2014/main" val="1278122467"/>
                    </a:ext>
                  </a:extLst>
                </a:gridCol>
                <a:gridCol w="1482341">
                  <a:extLst>
                    <a:ext uri="{9D8B030D-6E8A-4147-A177-3AD203B41FA5}">
                      <a16:colId xmlns:a16="http://schemas.microsoft.com/office/drawing/2014/main" val="3217825428"/>
                    </a:ext>
                  </a:extLst>
                </a:gridCol>
              </a:tblGrid>
              <a:tr h="58149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Rockwell" panose="02060603020205020403" pitchFamily="18" charset="0"/>
                        </a:rPr>
                        <a:t>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Rockwell" panose="02060603020205020403" pitchFamily="18" charset="0"/>
                        </a:rP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Rockwell" panose="02060603020205020403" pitchFamily="18" charset="0"/>
                        </a:rPr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Rockwell" panose="02060603020205020403" pitchFamily="18" charset="0"/>
                        </a:rPr>
                        <a:t>Suspect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Rockwell" panose="02060603020205020403" pitchFamily="18" charset="0"/>
                        </a:rPr>
                        <a:t>Keratoconus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Rockwell" panose="02060603020205020403" pitchFamily="18" charset="0"/>
                        </a:rP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367805"/>
                  </a:ext>
                </a:extLst>
              </a:tr>
              <a:tr h="6744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Train_BR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Brazilian (70%)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296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599808"/>
                  </a:ext>
                </a:extLst>
              </a:tr>
              <a:tr h="6744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Train_BD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Bangladeshi (50%)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275372"/>
                  </a:ext>
                </a:extLst>
              </a:tr>
              <a:tr h="381209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Rockwell" panose="02060603020205020403" pitchFamily="18" charset="0"/>
                        </a:rPr>
                        <a:t>Total Train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Rockwell" panose="02060603020205020403" pitchFamily="18" charset="0"/>
                        </a:rP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Rockwell" panose="02060603020205020403" pitchFamily="18" charset="0"/>
                        </a:rP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Rockwell" panose="02060603020205020403" pitchFamily="18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Rockwell" panose="02060603020205020403" pitchFamily="18" charset="0"/>
                        </a:rPr>
                        <a:t>365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103794"/>
                  </a:ext>
                </a:extLst>
              </a:tr>
              <a:tr h="6744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Brazilian (15%)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86380"/>
                  </a:ext>
                </a:extLst>
              </a:tr>
              <a:tr h="6744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Test_BR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Brazilian (15%)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519409"/>
                  </a:ext>
                </a:extLst>
              </a:tr>
              <a:tr h="6744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Test_BD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Bangladeshi (50%)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Rockwell" panose="02060603020205020403" pitchFamily="18" charset="0"/>
                        </a:rPr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7158062"/>
                  </a:ext>
                </a:extLst>
              </a:tr>
              <a:tr h="381209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Rockwell" panose="02060603020205020403" pitchFamily="18" charset="0"/>
                        </a:rPr>
                        <a:t>Total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Rockwell" panose="02060603020205020403" pitchFamily="18" charset="0"/>
                        </a:rPr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Rockwell" panose="02060603020205020403" pitchFamily="18" charset="0"/>
                        </a:rPr>
                        <a:t>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Rockwell" panose="02060603020205020403" pitchFamily="18" charset="0"/>
                        </a:rP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Rockwell" panose="02060603020205020403" pitchFamily="18" charset="0"/>
                        </a:rPr>
                        <a:t>561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956034"/>
                  </a:ext>
                </a:extLst>
              </a:tr>
            </a:tbl>
          </a:graphicData>
        </a:graphic>
      </p:graphicFrame>
      <p:grpSp>
        <p:nvGrpSpPr>
          <p:cNvPr id="78" name="Group 77">
            <a:extLst>
              <a:ext uri="{FF2B5EF4-FFF2-40B4-BE49-F238E27FC236}">
                <a16:creationId xmlns:a16="http://schemas.microsoft.com/office/drawing/2014/main" id="{6A596C64-819A-2274-72A0-CF27564910D9}"/>
              </a:ext>
            </a:extLst>
          </p:cNvPr>
          <p:cNvGrpSpPr/>
          <p:nvPr/>
        </p:nvGrpSpPr>
        <p:grpSpPr>
          <a:xfrm>
            <a:off x="457199" y="37304009"/>
            <a:ext cx="8583119" cy="6343351"/>
            <a:chOff x="9631679" y="5064221"/>
            <a:chExt cx="22829521" cy="9050364"/>
          </a:xfrm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298704DD-7F40-7B53-80F6-B891C9FF332D}"/>
                </a:ext>
              </a:extLst>
            </p:cNvPr>
            <p:cNvSpPr/>
            <p:nvPr/>
          </p:nvSpPr>
          <p:spPr>
            <a:xfrm>
              <a:off x="9631679" y="5064221"/>
              <a:ext cx="22829521" cy="9050364"/>
            </a:xfrm>
            <a:prstGeom prst="roundRect">
              <a:avLst>
                <a:gd name="adj" fmla="val 2099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457200" bIns="45720" rtlCol="0" anchor="ctr"/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The proposed deep learning framework successfully detected and classified keratoconus from corneal topography maps with high accuracy with DenseNet-121. These findings highlight the potential of AI-assisted diagnostic systems to support early detection and clinical decision-making in ophthalmology. By selecting DenseNet-121—smaller and more efficient than alternatives—the entire training footprint remained at just 0.62 kg CO₂, supporting sustainable AI deployment.</a:t>
              </a:r>
            </a:p>
          </p:txBody>
        </p:sp>
        <p:sp>
          <p:nvSpPr>
            <p:cNvPr id="85" name="Rectangle: Top Corners Rounded 84">
              <a:extLst>
                <a:ext uri="{FF2B5EF4-FFF2-40B4-BE49-F238E27FC236}">
                  <a16:creationId xmlns:a16="http://schemas.microsoft.com/office/drawing/2014/main" id="{B9208652-5095-8E08-43B0-52BE26F513BC}"/>
                </a:ext>
              </a:extLst>
            </p:cNvPr>
            <p:cNvSpPr/>
            <p:nvPr/>
          </p:nvSpPr>
          <p:spPr>
            <a:xfrm>
              <a:off x="9631679" y="5064221"/>
              <a:ext cx="22829521" cy="1179166"/>
            </a:xfrm>
            <a:prstGeom prst="round2Same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CONCLUSION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78CBD56-F5F8-1CAE-DE98-AC92B19BFC10}"/>
              </a:ext>
            </a:extLst>
          </p:cNvPr>
          <p:cNvGrpSpPr/>
          <p:nvPr/>
        </p:nvGrpSpPr>
        <p:grpSpPr>
          <a:xfrm>
            <a:off x="9113457" y="37323931"/>
            <a:ext cx="4373943" cy="6343351"/>
            <a:chOff x="9631679" y="5064221"/>
            <a:chExt cx="22829521" cy="9050364"/>
          </a:xfrm>
        </p:grpSpPr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DED9416E-AF92-B987-8BA2-E067179EFCEE}"/>
                </a:ext>
              </a:extLst>
            </p:cNvPr>
            <p:cNvSpPr/>
            <p:nvPr/>
          </p:nvSpPr>
          <p:spPr>
            <a:xfrm>
              <a:off x="9631679" y="5064221"/>
              <a:ext cx="22829521" cy="9050364"/>
            </a:xfrm>
            <a:prstGeom prst="roundRect">
              <a:avLst>
                <a:gd name="adj" fmla="val 2099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3500"/>
                </a:lnSpc>
              </a:pPr>
              <a:endParaRPr lang="en-US" sz="2400" dirty="0">
                <a:solidFill>
                  <a:schemeClr val="tx1"/>
                </a:solidFill>
                <a:latin typeface="Rockwell" panose="02060603020205020403" pitchFamily="18" charset="0"/>
              </a:endParaRPr>
            </a:p>
            <a:p>
              <a:pPr marL="342900" indent="-342900">
                <a:lnSpc>
                  <a:spcPts val="35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PyTorch</a:t>
              </a:r>
            </a:p>
            <a:p>
              <a:pPr marL="342900" indent="-342900">
                <a:lnSpc>
                  <a:spcPts val="35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TensorFlow</a:t>
              </a:r>
            </a:p>
            <a:p>
              <a:pPr marL="342900" indent="-342900">
                <a:lnSpc>
                  <a:spcPts val="35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Python</a:t>
              </a:r>
            </a:p>
            <a:p>
              <a:pPr marL="342900" indent="-342900">
                <a:lnSpc>
                  <a:spcPts val="35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Grad-CAM</a:t>
              </a:r>
            </a:p>
            <a:p>
              <a:pPr marL="342900" indent="-342900">
                <a:lnSpc>
                  <a:spcPts val="35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Multi-map AI Framework</a:t>
              </a:r>
            </a:p>
            <a:p>
              <a:pPr marL="342900" indent="-342900">
                <a:lnSpc>
                  <a:spcPts val="35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SMOTE</a:t>
              </a:r>
            </a:p>
            <a:p>
              <a:pPr marL="342900" indent="-342900">
                <a:lnSpc>
                  <a:spcPts val="35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NVIDIA Tesla P100</a:t>
              </a:r>
            </a:p>
            <a:p>
              <a:pPr marL="342900" indent="-342900">
                <a:lnSpc>
                  <a:spcPts val="35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SelectKBest</a:t>
              </a:r>
            </a:p>
            <a:p>
              <a:pPr marL="342900" indent="-342900">
                <a:lnSpc>
                  <a:spcPts val="35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ImageNet-pretrained models</a:t>
              </a:r>
            </a:p>
            <a:p>
              <a:pPr marL="342900" indent="-342900">
                <a:lnSpc>
                  <a:spcPts val="35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StandardScaler</a:t>
              </a:r>
            </a:p>
          </p:txBody>
        </p:sp>
        <p:sp>
          <p:nvSpPr>
            <p:cNvPr id="108" name="Rectangle: Top Corners Rounded 107">
              <a:extLst>
                <a:ext uri="{FF2B5EF4-FFF2-40B4-BE49-F238E27FC236}">
                  <a16:creationId xmlns:a16="http://schemas.microsoft.com/office/drawing/2014/main" id="{8AFE2980-3B01-8F9A-6F5B-050B08D91805}"/>
                </a:ext>
              </a:extLst>
            </p:cNvPr>
            <p:cNvSpPr/>
            <p:nvPr/>
          </p:nvSpPr>
          <p:spPr>
            <a:xfrm>
              <a:off x="9631679" y="5064221"/>
              <a:ext cx="22829521" cy="1211533"/>
            </a:xfrm>
            <a:prstGeom prst="round2Same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MODERN TOOLS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AE4A0C4F-B4FD-6325-AEFD-CD4D2EFE751E}"/>
              </a:ext>
            </a:extLst>
          </p:cNvPr>
          <p:cNvGrpSpPr/>
          <p:nvPr/>
        </p:nvGrpSpPr>
        <p:grpSpPr>
          <a:xfrm>
            <a:off x="18534637" y="37323931"/>
            <a:ext cx="8864049" cy="6343351"/>
            <a:chOff x="9631679" y="5064221"/>
            <a:chExt cx="22829521" cy="9050364"/>
          </a:xfrm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0C74BC04-471A-82B3-7243-8D8CC60885D7}"/>
                </a:ext>
              </a:extLst>
            </p:cNvPr>
            <p:cNvSpPr/>
            <p:nvPr/>
          </p:nvSpPr>
          <p:spPr>
            <a:xfrm>
              <a:off x="9631679" y="5064221"/>
              <a:ext cx="22829521" cy="9050364"/>
            </a:xfrm>
            <a:prstGeom prst="roundRect">
              <a:avLst>
                <a:gd name="adj" fmla="val 2099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342900" indent="-342900">
                <a:lnSpc>
                  <a:spcPts val="3300"/>
                </a:lnSpc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chemeClr val="tx1"/>
                  </a:solidFill>
                  <a:latin typeface="Rockwell" panose="02060603020205020403" pitchFamily="18" charset="0"/>
                </a:rPr>
                <a:t>Patient Safety &amp; Equity: </a:t>
              </a: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Selected DenseNet-121 over larger models to ensure robust, equitable performance across Bangladeshi and Brazilian populations, minimizing misdiagnosis risks for underrepresented groups.</a:t>
              </a:r>
            </a:p>
            <a:p>
              <a:pPr marL="342900" indent="-342900">
                <a:lnSpc>
                  <a:spcPts val="3300"/>
                </a:lnSpc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chemeClr val="tx1"/>
                  </a:solidFill>
                  <a:latin typeface="Rockwell" panose="02060603020205020403" pitchFamily="18" charset="0"/>
                </a:rPr>
                <a:t>Data Integrity &amp; Privacy: </a:t>
              </a: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Used only real, de-identified Pentacam scans with anonymized study IDs; applied feature-space SMOTE to avoid generating fake medical images.</a:t>
              </a:r>
            </a:p>
            <a:p>
              <a:pPr marL="342900" indent="-342900">
                <a:lnSpc>
                  <a:spcPts val="3300"/>
                </a:lnSpc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chemeClr val="tx1"/>
                  </a:solidFill>
                  <a:latin typeface="Rockwell" panose="02060603020205020403" pitchFamily="18" charset="0"/>
                </a:rPr>
                <a:t>Transparency &amp; Trust: </a:t>
              </a: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Implemented Grad-CAM visualization for every prediction, ensuring clinicians understand why a decision was made rather than relying on black-box outputs.</a:t>
              </a:r>
            </a:p>
          </p:txBody>
        </p:sp>
        <p:sp>
          <p:nvSpPr>
            <p:cNvPr id="111" name="Rectangle: Top Corners Rounded 110">
              <a:extLst>
                <a:ext uri="{FF2B5EF4-FFF2-40B4-BE49-F238E27FC236}">
                  <a16:creationId xmlns:a16="http://schemas.microsoft.com/office/drawing/2014/main" id="{616B3EB6-E6F4-730D-B705-E185295CFC34}"/>
                </a:ext>
              </a:extLst>
            </p:cNvPr>
            <p:cNvSpPr/>
            <p:nvPr/>
          </p:nvSpPr>
          <p:spPr>
            <a:xfrm>
              <a:off x="9631679" y="5064221"/>
              <a:ext cx="22829521" cy="1605669"/>
            </a:xfrm>
            <a:prstGeom prst="round2Same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ETHICS &amp; PROFESSIONAL RESPONSIBILITIES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0900C59F-BC8D-A3D0-E048-E925A9969AD5}"/>
              </a:ext>
            </a:extLst>
          </p:cNvPr>
          <p:cNvGrpSpPr/>
          <p:nvPr/>
        </p:nvGrpSpPr>
        <p:grpSpPr>
          <a:xfrm>
            <a:off x="27532878" y="37323931"/>
            <a:ext cx="4928322" cy="6343351"/>
            <a:chOff x="9631679" y="5064221"/>
            <a:chExt cx="22829521" cy="9050364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0FC12D7D-9750-113F-5DB7-9C9B9668B5BA}"/>
                </a:ext>
              </a:extLst>
            </p:cNvPr>
            <p:cNvSpPr/>
            <p:nvPr/>
          </p:nvSpPr>
          <p:spPr>
            <a:xfrm>
              <a:off x="9631679" y="5064221"/>
              <a:ext cx="22829521" cy="9050364"/>
            </a:xfrm>
            <a:prstGeom prst="roundRect">
              <a:avLst>
                <a:gd name="adj" fmla="val 2099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endParaRPr lang="en-US" sz="2400" dirty="0">
                <a:solidFill>
                  <a:schemeClr val="tx1"/>
                </a:solidFill>
                <a:latin typeface="Rockwell" panose="02060603020205020403" pitchFamily="18" charset="0"/>
              </a:endParaRPr>
            </a:p>
          </p:txBody>
        </p:sp>
        <p:sp>
          <p:nvSpPr>
            <p:cNvPr id="121" name="Rectangle: Top Corners Rounded 120">
              <a:extLst>
                <a:ext uri="{FF2B5EF4-FFF2-40B4-BE49-F238E27FC236}">
                  <a16:creationId xmlns:a16="http://schemas.microsoft.com/office/drawing/2014/main" id="{665B5D47-1191-C5E7-0948-2DF4B9F0573A}"/>
                </a:ext>
              </a:extLst>
            </p:cNvPr>
            <p:cNvSpPr/>
            <p:nvPr/>
          </p:nvSpPr>
          <p:spPr>
            <a:xfrm>
              <a:off x="9631679" y="5064221"/>
              <a:ext cx="22829521" cy="1150742"/>
            </a:xfrm>
            <a:prstGeom prst="round2Same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REFERENCES</a:t>
              </a:r>
            </a:p>
          </p:txBody>
        </p:sp>
      </p:grpSp>
      <p:pic>
        <p:nvPicPr>
          <p:cNvPr id="123" name="Picture 122">
            <a:extLst>
              <a:ext uri="{FF2B5EF4-FFF2-40B4-BE49-F238E27FC236}">
                <a16:creationId xmlns:a16="http://schemas.microsoft.com/office/drawing/2014/main" id="{33E1FA7D-7621-30DF-9313-96FD164DFDE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5179" y="38635194"/>
            <a:ext cx="4667250" cy="4667250"/>
          </a:xfrm>
          <a:prstGeom prst="rect">
            <a:avLst/>
          </a:prstGeom>
        </p:spPr>
      </p:pic>
      <p:grpSp>
        <p:nvGrpSpPr>
          <p:cNvPr id="125" name="Group 124">
            <a:extLst>
              <a:ext uri="{FF2B5EF4-FFF2-40B4-BE49-F238E27FC236}">
                <a16:creationId xmlns:a16="http://schemas.microsoft.com/office/drawing/2014/main" id="{E0DB85E6-4E12-B24B-22F9-6612A54B5E39}"/>
              </a:ext>
            </a:extLst>
          </p:cNvPr>
          <p:cNvGrpSpPr/>
          <p:nvPr/>
        </p:nvGrpSpPr>
        <p:grpSpPr>
          <a:xfrm>
            <a:off x="13578840" y="37320326"/>
            <a:ext cx="4861560" cy="6343351"/>
            <a:chOff x="9631679" y="5064221"/>
            <a:chExt cx="22829521" cy="9050364"/>
          </a:xfrm>
        </p:grpSpPr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F72B4AF9-3B7F-C335-79C5-36A484C01524}"/>
                </a:ext>
              </a:extLst>
            </p:cNvPr>
            <p:cNvSpPr/>
            <p:nvPr/>
          </p:nvSpPr>
          <p:spPr>
            <a:xfrm>
              <a:off x="9631679" y="5064221"/>
              <a:ext cx="22829521" cy="9050364"/>
            </a:xfrm>
            <a:prstGeom prst="roundRect">
              <a:avLst>
                <a:gd name="adj" fmla="val 2099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sz="2400" b="1" dirty="0">
                  <a:solidFill>
                    <a:schemeClr val="tx1"/>
                  </a:solidFill>
                  <a:latin typeface="Rockwell" panose="02060603020205020403" pitchFamily="18" charset="0"/>
                </a:rPr>
                <a:t>SDG 3 </a:t>
              </a: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(Good health &amp; well-being)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sz="2400" b="1" dirty="0">
                  <a:solidFill>
                    <a:schemeClr val="tx1"/>
                  </a:solidFill>
                  <a:latin typeface="Rockwell" panose="02060603020205020403" pitchFamily="18" charset="0"/>
                </a:rPr>
                <a:t>SDG 9 </a:t>
              </a: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(Industry, innovation &amp; infrastructure)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sz="2400" b="1" dirty="0">
                  <a:solidFill>
                    <a:schemeClr val="tx1"/>
                  </a:solidFill>
                  <a:latin typeface="Rockwell" panose="02060603020205020403" pitchFamily="18" charset="0"/>
                </a:rPr>
                <a:t>SDG 10 </a:t>
              </a:r>
              <a:r>
                <a:rPr lang="en-US" sz="2400" dirty="0">
                  <a:solidFill>
                    <a:schemeClr val="tx1"/>
                  </a:solidFill>
                  <a:latin typeface="Rockwell" panose="02060603020205020403" pitchFamily="18" charset="0"/>
                </a:rPr>
                <a:t>(Reduce </a:t>
              </a:r>
              <a:r>
                <a:rPr lang="en-US" sz="2400">
                  <a:solidFill>
                    <a:schemeClr val="tx1"/>
                  </a:solidFill>
                  <a:latin typeface="Rockwell" panose="02060603020205020403" pitchFamily="18" charset="0"/>
                </a:rPr>
                <a:t>inequalities)</a:t>
              </a:r>
              <a:endParaRPr lang="en-US" sz="2400" dirty="0">
                <a:solidFill>
                  <a:schemeClr val="tx1"/>
                </a:solidFill>
                <a:latin typeface="Rockwell" panose="02060603020205020403" pitchFamily="18" charset="0"/>
              </a:endParaRPr>
            </a:p>
          </p:txBody>
        </p:sp>
        <p:sp>
          <p:nvSpPr>
            <p:cNvPr id="128" name="Rectangle: Top Corners Rounded 127">
              <a:extLst>
                <a:ext uri="{FF2B5EF4-FFF2-40B4-BE49-F238E27FC236}">
                  <a16:creationId xmlns:a16="http://schemas.microsoft.com/office/drawing/2014/main" id="{BAC61C6C-B0FB-5444-A262-4E2FA87F687D}"/>
                </a:ext>
              </a:extLst>
            </p:cNvPr>
            <p:cNvSpPr/>
            <p:nvPr/>
          </p:nvSpPr>
          <p:spPr>
            <a:xfrm>
              <a:off x="9631679" y="5064221"/>
              <a:ext cx="22829521" cy="1211533"/>
            </a:xfrm>
            <a:prstGeom prst="round2Same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SDG</a:t>
              </a:r>
            </a:p>
          </p:txBody>
        </p:sp>
      </p:grpSp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30F02DBE-0670-9351-BF97-8020B7CAE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6153"/>
              </p:ext>
            </p:extLst>
          </p:nvPr>
        </p:nvGraphicFramePr>
        <p:xfrm>
          <a:off x="12207240" y="30028024"/>
          <a:ext cx="9326880" cy="689895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374507739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406584277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782500776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3109435177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312569414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3934833561"/>
                    </a:ext>
                  </a:extLst>
                </a:gridCol>
              </a:tblGrid>
              <a:tr h="631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F1-Score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6864045"/>
                  </a:ext>
                </a:extLst>
              </a:tr>
              <a:tr h="793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DenseNet-121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Test BR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0.8256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0.8868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0.8393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0.8624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890183"/>
                  </a:ext>
                </a:extLst>
              </a:tr>
              <a:tr h="793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DenseNet-121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Test BD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0.8451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0.8542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0.9111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0.8817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4643183"/>
                  </a:ext>
                </a:extLst>
              </a:tr>
              <a:tr h="631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ResNet-50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Test BR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0.8372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0.9375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0.8036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0.8654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8863041"/>
                  </a:ext>
                </a:extLst>
              </a:tr>
              <a:tr h="631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ResNet-50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Test BD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0.7746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0.7959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0.8667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0.8298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4920038"/>
                  </a:ext>
                </a:extLst>
              </a:tr>
              <a:tr h="11359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EfficientNet-B4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Test BR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0.7907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0.8800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0.7857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0.8302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551937"/>
                  </a:ext>
                </a:extLst>
              </a:tr>
              <a:tr h="11359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EfficientNet-B4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Test BD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0.8451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0.8696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0.8889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0.8791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2222203"/>
                  </a:ext>
                </a:extLst>
              </a:tr>
              <a:tr h="11464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MobileNet-V3-Large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Test BR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0.8372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0.9038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0.8393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Rockwell" panose="02060603020205020403" pitchFamily="18" charset="0"/>
                        </a:rPr>
                        <a:t>0.8704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600040"/>
                  </a:ext>
                </a:extLst>
              </a:tr>
            </a:tbl>
          </a:graphicData>
        </a:graphic>
      </p:graphicFrame>
      <p:sp>
        <p:nvSpPr>
          <p:cNvPr id="68" name="TextBox 67">
            <a:extLst>
              <a:ext uri="{FF2B5EF4-FFF2-40B4-BE49-F238E27FC236}">
                <a16:creationId xmlns:a16="http://schemas.microsoft.com/office/drawing/2014/main" id="{9F30999E-F6BF-D8EC-6A58-09D194E72A61}"/>
              </a:ext>
            </a:extLst>
          </p:cNvPr>
          <p:cNvSpPr txBox="1"/>
          <p:nvPr/>
        </p:nvSpPr>
        <p:spPr>
          <a:xfrm>
            <a:off x="11879737" y="29467478"/>
            <a:ext cx="9981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Three-Class Classification all performance data table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8FBCD0C1-4C0E-2EA4-D647-942C30D6EB6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564600" y="29886050"/>
            <a:ext cx="10775135" cy="674215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2625530-6E6F-87D3-F901-7FEA7B685E85}"/>
              </a:ext>
            </a:extLst>
          </p:cNvPr>
          <p:cNvSpPr txBox="1"/>
          <p:nvPr/>
        </p:nvSpPr>
        <p:spPr>
          <a:xfrm>
            <a:off x="682283" y="22483735"/>
            <a:ext cx="996235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Data Partition Summary</a:t>
            </a: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9DFDB0A3-41A4-BD01-6B08-3F6880A1ACA4}"/>
              </a:ext>
            </a:extLst>
          </p:cNvPr>
          <p:cNvSpPr/>
          <p:nvPr/>
        </p:nvSpPr>
        <p:spPr>
          <a:xfrm rot="10800000">
            <a:off x="28625681" y="20560500"/>
            <a:ext cx="1066465" cy="1143050"/>
          </a:xfrm>
          <a:prstGeom prst="downArrow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620C5A9-1C97-F381-19FB-E11ADABB2B9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196" y="29454429"/>
            <a:ext cx="11641043" cy="762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241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661</TotalTime>
  <Words>773</Words>
  <Application>Microsoft Office PowerPoint</Application>
  <PresentationFormat>Custom</PresentationFormat>
  <Paragraphs>192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Rockwell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M Rohan</dc:creator>
  <cp:lastModifiedBy>A M Rohan</cp:lastModifiedBy>
  <cp:revision>27</cp:revision>
  <dcterms:created xsi:type="dcterms:W3CDTF">2026-06-14T13:19:02Z</dcterms:created>
  <dcterms:modified xsi:type="dcterms:W3CDTF">2026-06-16T18:10:48Z</dcterms:modified>
</cp:coreProperties>
</file>